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21396325" cy="15087600"/>
  <p:notesSz cx="9601200" cy="7315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1133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5913" y="549275"/>
            <a:ext cx="3889375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Google Shape;65;p1:notes"/>
          <p:cNvSpPr txBox="1">
            <a:spLocks noGrp="1"/>
          </p:cNvSpPr>
          <p:nvPr>
            <p:ph type="body" idx="1"/>
          </p:nvPr>
        </p:nvSpPr>
        <p:spPr>
          <a:xfrm>
            <a:off x="960120" y="3474720"/>
            <a:ext cx="7680600" cy="329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825" tIns="48225" rIns="96825" bIns="482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:notes"/>
          <p:cNvSpPr txBox="1"/>
          <p:nvPr/>
        </p:nvSpPr>
        <p:spPr>
          <a:xfrm>
            <a:off x="5438880" y="6947640"/>
            <a:ext cx="416016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825" tIns="48225" rIns="96825" bIns="482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sz="1300" b="0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1604880" y="4686840"/>
            <a:ext cx="18186480" cy="3233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069560" y="3530160"/>
            <a:ext cx="19256040" cy="875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1604880" y="4686840"/>
            <a:ext cx="18186480" cy="3233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1069560" y="3530160"/>
            <a:ext cx="19256040" cy="875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1604880" y="4686840"/>
            <a:ext cx="18186480" cy="3233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1069560" y="3530160"/>
            <a:ext cx="9396720" cy="875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10936440" y="3530160"/>
            <a:ext cx="9396720" cy="875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1604880" y="4686840"/>
            <a:ext cx="18186480" cy="3233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subTitle" idx="1"/>
          </p:nvPr>
        </p:nvSpPr>
        <p:spPr>
          <a:xfrm>
            <a:off x="1604880" y="4686840"/>
            <a:ext cx="18186480" cy="1499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1604880" y="4686840"/>
            <a:ext cx="18186480" cy="3233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1069560" y="3530160"/>
            <a:ext cx="9396720" cy="4173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body" idx="2"/>
          </p:nvPr>
        </p:nvSpPr>
        <p:spPr>
          <a:xfrm>
            <a:off x="10936440" y="3530160"/>
            <a:ext cx="9396720" cy="875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body" idx="3"/>
          </p:nvPr>
        </p:nvSpPr>
        <p:spPr>
          <a:xfrm>
            <a:off x="1069560" y="8100360"/>
            <a:ext cx="9396720" cy="4173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1604880" y="4686840"/>
            <a:ext cx="18186480" cy="3233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body" idx="1"/>
          </p:nvPr>
        </p:nvSpPr>
        <p:spPr>
          <a:xfrm>
            <a:off x="1069560" y="3530160"/>
            <a:ext cx="9396720" cy="875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10936440" y="3530160"/>
            <a:ext cx="9396720" cy="4173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3"/>
          </p:nvPr>
        </p:nvSpPr>
        <p:spPr>
          <a:xfrm>
            <a:off x="10936440" y="8100360"/>
            <a:ext cx="9396720" cy="4173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title"/>
          </p:nvPr>
        </p:nvSpPr>
        <p:spPr>
          <a:xfrm>
            <a:off x="1604880" y="4686840"/>
            <a:ext cx="18186480" cy="3233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1069560" y="3530160"/>
            <a:ext cx="9396720" cy="4173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2"/>
          </p:nvPr>
        </p:nvSpPr>
        <p:spPr>
          <a:xfrm>
            <a:off x="10936440" y="3530160"/>
            <a:ext cx="9396720" cy="4173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body" idx="3"/>
          </p:nvPr>
        </p:nvSpPr>
        <p:spPr>
          <a:xfrm>
            <a:off x="1069560" y="8100360"/>
            <a:ext cx="19256040" cy="4173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1604880" y="4686840"/>
            <a:ext cx="18186480" cy="3233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1069560" y="3530160"/>
            <a:ext cx="19256040" cy="4173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2"/>
          </p:nvPr>
        </p:nvSpPr>
        <p:spPr>
          <a:xfrm>
            <a:off x="1069560" y="8100360"/>
            <a:ext cx="19256040" cy="4173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1604880" y="4686840"/>
            <a:ext cx="18186480" cy="3233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body" idx="1"/>
          </p:nvPr>
        </p:nvSpPr>
        <p:spPr>
          <a:xfrm>
            <a:off x="1069560" y="3530160"/>
            <a:ext cx="9396720" cy="4173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body" idx="2"/>
          </p:nvPr>
        </p:nvSpPr>
        <p:spPr>
          <a:xfrm>
            <a:off x="10936440" y="3530160"/>
            <a:ext cx="9396720" cy="4173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body" idx="3"/>
          </p:nvPr>
        </p:nvSpPr>
        <p:spPr>
          <a:xfrm>
            <a:off x="1069560" y="8100360"/>
            <a:ext cx="9396720" cy="4173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body" idx="4"/>
          </p:nvPr>
        </p:nvSpPr>
        <p:spPr>
          <a:xfrm>
            <a:off x="10936440" y="8100360"/>
            <a:ext cx="9396720" cy="4173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1604880" y="4686840"/>
            <a:ext cx="18186480" cy="3233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1069560" y="3530160"/>
            <a:ext cx="6200280" cy="4173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7580160" y="3530160"/>
            <a:ext cx="6200280" cy="4173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14090760" y="3530160"/>
            <a:ext cx="6200280" cy="4173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1069560" y="8100360"/>
            <a:ext cx="6200280" cy="4173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body" idx="5"/>
          </p:nvPr>
        </p:nvSpPr>
        <p:spPr>
          <a:xfrm>
            <a:off x="7580160" y="8100360"/>
            <a:ext cx="6200280" cy="4173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body" idx="6"/>
          </p:nvPr>
        </p:nvSpPr>
        <p:spPr>
          <a:xfrm>
            <a:off x="14090760" y="8100360"/>
            <a:ext cx="6200280" cy="4173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1604880" y="4686840"/>
            <a:ext cx="18186480" cy="3233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7700" tIns="104025" rIns="207700" bIns="1040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dt" idx="10"/>
          </p:nvPr>
        </p:nvSpPr>
        <p:spPr>
          <a:xfrm>
            <a:off x="1069560" y="13983840"/>
            <a:ext cx="499176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7700" tIns="104025" rIns="207700" bIns="1040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7310520" y="13983840"/>
            <a:ext cx="677448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7700" tIns="104025" rIns="207700" bIns="1040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15334560" y="13983840"/>
            <a:ext cx="499176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7700" tIns="104025" rIns="207700" bIns="1040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None/>
              <a:defRPr sz="28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None/>
              <a:defRPr sz="28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None/>
              <a:defRPr sz="28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None/>
              <a:defRPr sz="28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None/>
              <a:defRPr sz="28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None/>
              <a:defRPr sz="28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None/>
              <a:defRPr sz="28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None/>
              <a:defRPr sz="28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None/>
              <a:defRPr sz="28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Google Shape;14;p1"/>
          <p:cNvSpPr txBox="1">
            <a:spLocks noGrp="1"/>
          </p:cNvSpPr>
          <p:nvPr>
            <p:ph type="body" idx="1"/>
          </p:nvPr>
        </p:nvSpPr>
        <p:spPr>
          <a:xfrm>
            <a:off x="1069560" y="3530160"/>
            <a:ext cx="19256040" cy="875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/>
          <p:nvPr/>
        </p:nvSpPr>
        <p:spPr>
          <a:xfrm>
            <a:off x="-17055" y="-121638"/>
            <a:ext cx="21395880" cy="2376360"/>
          </a:xfrm>
          <a:prstGeom prst="rect">
            <a:avLst/>
          </a:prstGeom>
          <a:solidFill>
            <a:srgbClr val="C2D59B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425" tIns="32400" rIns="64425" bIns="32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ctr">
              <a:buSzPts val="2400"/>
            </a:pPr>
            <a:r>
              <a:rPr lang="en-US" sz="4000" dirty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Hybrid Equivariant-Invariant Feature Learning for Visual perception in Dynamic visual environments.</a:t>
            </a:r>
          </a:p>
          <a:p>
            <a:pPr lvl="0" algn="ctr">
              <a:buSzPts val="2400"/>
            </a:pPr>
            <a:r>
              <a:rPr lang="en-US" sz="36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Vineet V Desai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Ujwala Patil, Dr. Nalini Iyer and </a:t>
            </a:r>
            <a:r>
              <a:rPr lang="en-US" sz="3600" b="0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 Preeti Pillai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Department: Electronics and Communication.</a:t>
            </a:r>
            <a:endParaRPr sz="3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198924" y="4603816"/>
            <a:ext cx="6857640" cy="747360"/>
          </a:xfrm>
          <a:prstGeom prst="rect">
            <a:avLst/>
          </a:prstGeom>
          <a:solidFill>
            <a:srgbClr val="D6E3BC"/>
          </a:solidFill>
          <a:ln>
            <a:noFill/>
          </a:ln>
        </p:spPr>
        <p:txBody>
          <a:bodyPr spcFirstLastPara="1" wrap="square" lIns="161625" tIns="161625" rIns="161625" bIns="161625" anchor="t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Objectives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8970480" y="2483280"/>
            <a:ext cx="5709600" cy="345240"/>
          </a:xfrm>
          <a:prstGeom prst="rect">
            <a:avLst/>
          </a:pr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15057025" y="2544300"/>
            <a:ext cx="6019500" cy="533100"/>
          </a:xfrm>
          <a:prstGeom prst="rect">
            <a:avLst/>
          </a:prstGeom>
          <a:solidFill>
            <a:srgbClr val="D6E3BC"/>
          </a:solidFill>
          <a:ln>
            <a:noFill/>
          </a:ln>
        </p:spPr>
        <p:txBody>
          <a:bodyPr spcFirstLastPara="1" wrap="square" lIns="161625" tIns="161625" rIns="161625" bIns="161625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Results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209651" y="10364112"/>
            <a:ext cx="6857111" cy="775057"/>
          </a:xfrm>
          <a:prstGeom prst="rect">
            <a:avLst/>
          </a:prstGeom>
          <a:solidFill>
            <a:srgbClr val="D6E3BC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Literature survey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180044" y="7513027"/>
            <a:ext cx="6857700" cy="837720"/>
          </a:xfrm>
          <a:prstGeom prst="rect">
            <a:avLst/>
          </a:prstGeom>
          <a:solidFill>
            <a:srgbClr val="D6E3BC"/>
          </a:solidFill>
          <a:ln>
            <a:noFill/>
          </a:ln>
        </p:spPr>
        <p:txBody>
          <a:bodyPr spcFirstLastPara="1" wrap="square" lIns="164500" tIns="164500" rIns="164500" bIns="1645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Contributions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7502414" y="2416230"/>
            <a:ext cx="7238520" cy="12278831"/>
          </a:xfrm>
          <a:prstGeom prst="rect">
            <a:avLst/>
          </a:prstGeom>
          <a:solidFill>
            <a:srgbClr val="D6E3BC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Dual Branch CNN(Res-Net50)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i="0" u="none" strike="noStrike" cap="none" dirty="0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i="0" u="none" strike="noStrike" cap="none" dirty="0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i="0" u="none" strike="noStrike" cap="none" dirty="0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i="0" u="none" strike="noStrike" cap="none" dirty="0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i="0" u="none" strike="noStrike" cap="none" dirty="0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i="0" u="none" strike="noStrike" cap="none" dirty="0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i="0" u="none" strike="noStrike" cap="none" dirty="0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i="0" u="none" strike="noStrike" cap="none" dirty="0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i="0" u="none" strike="noStrike" cap="none" dirty="0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i="0" u="none" strike="noStrike" cap="none" dirty="0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i="0" u="none" strike="noStrike" cap="none" dirty="0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i="0" u="none" strike="noStrike" cap="none" dirty="0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i="0" u="none" strike="noStrike" cap="none" dirty="0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i="0" u="none" strike="noStrike" cap="none" dirty="0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i="0" u="none" strike="noStrike" cap="none" dirty="0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i="0" u="none" strike="noStrike" cap="none" dirty="0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i="0" u="none" strike="noStrike" cap="none" dirty="0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i="0" u="none" strike="noStrike" cap="none" dirty="0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i="0" u="none" strike="noStrike" cap="none" dirty="0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i="0" u="none" strike="noStrike" cap="none" dirty="0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250856" y="2466855"/>
            <a:ext cx="6786300" cy="639000"/>
          </a:xfrm>
          <a:prstGeom prst="rect">
            <a:avLst/>
          </a:prstGeom>
          <a:solidFill>
            <a:srgbClr val="D6E3BC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US" sz="3600" b="1" i="0" u="none" strike="noStrike" cap="none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Problem statement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15083001" y="11807428"/>
            <a:ext cx="5857560" cy="639000"/>
          </a:xfrm>
          <a:prstGeom prst="rect">
            <a:avLst/>
          </a:prstGeom>
          <a:solidFill>
            <a:srgbClr val="D6E3BC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Conclusion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0" y="14249520"/>
            <a:ext cx="21395880" cy="837720"/>
          </a:xfrm>
          <a:prstGeom prst="rect">
            <a:avLst/>
          </a:prstGeom>
          <a:solidFill>
            <a:srgbClr val="C2D59B"/>
          </a:solidFill>
          <a:ln w="9525" cap="flat" cmpd="sng">
            <a:solidFill>
              <a:srgbClr val="DAEEF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4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Research Experience for Undergraduates 2025-2026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14" descr="C:\Documents and Settings\Ramesh\Desktop\UAS\Documents\image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924" y="564723"/>
            <a:ext cx="5173175" cy="152493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 txBox="1"/>
          <p:nvPr/>
        </p:nvSpPr>
        <p:spPr>
          <a:xfrm>
            <a:off x="200456" y="2884551"/>
            <a:ext cx="6836700" cy="1957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vision models struggle under geometric and appearance variations. This work enables robust perception by jointly learning equivariant and invariant representations.</a:t>
            </a:r>
            <a:endParaRPr sz="22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250856" y="5265615"/>
            <a:ext cx="6781200" cy="3137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42900">
              <a:buClr>
                <a:schemeClr val="dk1"/>
              </a:buClr>
              <a:buSzPts val="1800"/>
              <a:buFont typeface="Times New Roman" panose="02020603050405020304"/>
              <a:buAutoNum type="arabicPeriod"/>
            </a:pPr>
            <a:r>
              <a:rPr lang="en-US" sz="22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Design a hybrid feature backbone that jointly learns equivariant features (for geometric consistency) and invariant features (for semantic stability).</a:t>
            </a:r>
          </a:p>
          <a:p>
            <a:pPr marL="457200" lvl="0" indent="-355600">
              <a:lnSpc>
                <a:spcPct val="115000"/>
              </a:lnSpc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and analyze the learned equivariant and invariant feature representations to interpret model behavior under geometric transformations.</a:t>
            </a:r>
            <a:b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250856" y="8275795"/>
            <a:ext cx="7024800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68300"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Introduced a dual-branch hybrid architecture for joint equivariant and invariant learning </a:t>
            </a:r>
          </a:p>
          <a:p>
            <a:pPr marL="457200" lvl="0" indent="-368300"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ECM and IDM for direct representation-level evaluation</a:t>
            </a:r>
            <a:r>
              <a:rPr lang="en-US" sz="22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</a:p>
          <a:p>
            <a:pPr marL="457200" lvl="0" indent="-368300"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improved robustness under real-world distribution shifts</a:t>
            </a:r>
            <a:endParaRPr lang="en-US" sz="22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68300">
              <a:buClr>
                <a:schemeClr val="dk1"/>
              </a:buClr>
              <a:buSzPts val="2200"/>
              <a:buFont typeface="Times New Roman"/>
              <a:buAutoNum type="arabicPeriod"/>
            </a:pPr>
            <a:endParaRPr sz="22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15009351" y="9714629"/>
            <a:ext cx="61149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15009351" y="12186050"/>
            <a:ext cx="6243300" cy="201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dual-branch equivariant–invariant framework enables robust visual representations by preserving geometric consistency and semantic stability. The shared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design generalizes well to unseen transformations, supporting reliable real-world perception.</a:t>
            </a:r>
            <a:endParaRPr sz="20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15336086" y="6899974"/>
            <a:ext cx="21396325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7608812" y="10300233"/>
            <a:ext cx="7071300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/>
            <a:endParaRPr sz="23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457200" lvl="1" indent="-457200" algn="just"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invariant branch produces transformation-insensitive embeddings using global pooling and contrastive learning. </a:t>
            </a:r>
          </a:p>
          <a:p>
            <a:pPr marL="457200" lvl="1" indent="-457200" algn="just"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using complementary equivariance and invariance losses, enabling robust generalization to unseen transformations.</a:t>
            </a:r>
          </a:p>
          <a:p>
            <a:pPr marL="457200" lvl="1" indent="-457200" algn="just"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 data augmentations generate paired views to jointly learn geometric consistency and semantic stability.</a:t>
            </a:r>
          </a:p>
          <a:p>
            <a:pPr marL="457200" lvl="1" indent="-457200" algn="just">
              <a:buClr>
                <a:schemeClr val="dk1"/>
              </a:buClr>
              <a:buSzPts val="2200"/>
              <a:buFont typeface="Times New Roman"/>
              <a:buAutoNum type="arabicPeriod"/>
            </a:pPr>
            <a:endParaRPr sz="2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7534688" y="3146649"/>
            <a:ext cx="6999900" cy="3277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68300" algn="just"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a ResNet-50 backbone to extract shared low- and mid-level visual features from input images. </a:t>
            </a:r>
          </a:p>
          <a:p>
            <a:pPr marL="457200" lvl="0" indent="-368300" algn="just"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Splits the shared features into two specialized branches: an equivariant branch for preserving geometric structure and an invariant branch for stable semantic representation. </a:t>
            </a:r>
          </a:p>
          <a:p>
            <a:pPr marL="457200" lvl="0" indent="-368300" algn="just"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equivariant branch enforces predictable feature transformations under rotations using spatial feature alignment.</a:t>
            </a:r>
            <a:endParaRPr sz="23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205798" y="11153066"/>
            <a:ext cx="7024800" cy="313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55600" algn="just"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CNNs provide translation equivariance but fail under rotations, viewpoint, and scale changes, leading to poor robustness in real-world settings. </a:t>
            </a:r>
          </a:p>
          <a:p>
            <a:pPr marL="457200" lvl="0" indent="-355600" algn="just"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Equivariant networks improve geometric consistency but often increase complexity and lack flexibility for unconstrained environments.</a:t>
            </a:r>
          </a:p>
          <a:p>
            <a:pPr marL="457200" lvl="0" indent="-355600" algn="just"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Invariant and contrastive learning methods enhance semantic stability but may discard important spatial and geometric information.</a:t>
            </a:r>
          </a:p>
        </p:txBody>
      </p:sp>
      <p:sp>
        <p:nvSpPr>
          <p:cNvPr id="90" name="Google Shape;90;p14"/>
          <p:cNvSpPr txBox="1"/>
          <p:nvPr/>
        </p:nvSpPr>
        <p:spPr>
          <a:xfrm>
            <a:off x="15135525" y="3084875"/>
            <a:ext cx="5474400" cy="6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Quantitative Results:</a:t>
            </a:r>
            <a:endParaRPr sz="26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15258425" y="5450750"/>
            <a:ext cx="46704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15012750" y="5224700"/>
            <a:ext cx="5086500" cy="103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Visual Results: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Baseline CNN(Res-Net50)</a:t>
            </a:r>
            <a:endParaRPr sz="26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5135525" y="8615525"/>
            <a:ext cx="62433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Dual Branch CNN(Rest-Net50)</a:t>
            </a:r>
            <a:endParaRPr sz="26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04A0A1-BF23-FD5B-3285-D805B973D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7109" y="6553200"/>
            <a:ext cx="6697479" cy="3747033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7570D3F-1FCC-3B44-D987-4DF997868C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328885"/>
              </p:ext>
            </p:extLst>
          </p:nvPr>
        </p:nvGraphicFramePr>
        <p:xfrm>
          <a:off x="15083001" y="3706292"/>
          <a:ext cx="6096000" cy="1405383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8461">
                <a:tc>
                  <a:txBody>
                    <a:bodyPr/>
                    <a:lstStyle>
                      <a:def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b="1">
                          <a:solidFill>
                            <a:schemeClr val="lt1"/>
                          </a:solidFill>
                        </a:defRPr>
                      </a:defPPr>
                      <a:lvl1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1pPr>
                      <a:lvl2pPr marR="0" lvl="1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2pPr>
                      <a:lvl3pPr marR="0" lvl="2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3pPr>
                      <a:lvl4pPr marR="0" lvl="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4pPr>
                      <a:lvl5pPr marR="0" lvl="4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5pPr>
                      <a:lvl6pPr marR="0" lvl="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6pPr>
                      <a:lvl7pPr marR="0" lvl="6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7pPr>
                      <a:lvl8pPr marR="0" lvl="7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8pPr>
                      <a:lvl9pPr marR="0" lvl="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9pPr>
                    </a:lstStyle>
                    <a:p>
                      <a:pPr algn="r">
                        <a:buNone/>
                      </a:pPr>
                      <a:r>
                        <a:rPr lang="en-US" dirty="0"/>
                        <a:t>Transformation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b="1">
                          <a:solidFill>
                            <a:schemeClr val="lt1"/>
                          </a:solidFill>
                        </a:defRPr>
                      </a:defPPr>
                      <a:lvl1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1pPr>
                      <a:lvl2pPr marR="0" lvl="1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2pPr>
                      <a:lvl3pPr marR="0" lvl="2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3pPr>
                      <a:lvl4pPr marR="0" lvl="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4pPr>
                      <a:lvl5pPr marR="0" lvl="4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5pPr>
                      <a:lvl6pPr marR="0" lvl="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6pPr>
                      <a:lvl7pPr marR="0" lvl="6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7pPr>
                      <a:lvl8pPr marR="0" lvl="7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8pPr>
                      <a:lvl9pPr marR="0" lvl="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dirty="0"/>
                        <a:t>ECM (mean)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b="1">
                          <a:solidFill>
                            <a:schemeClr val="lt1"/>
                          </a:solidFill>
                        </a:defRPr>
                      </a:defPPr>
                      <a:lvl1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1pPr>
                      <a:lvl2pPr marR="0" lvl="1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2pPr>
                      <a:lvl3pPr marR="0" lvl="2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3pPr>
                      <a:lvl4pPr marR="0" lvl="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4pPr>
                      <a:lvl5pPr marR="0" lvl="4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5pPr>
                      <a:lvl6pPr marR="0" lvl="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6pPr>
                      <a:lvl7pPr marR="0" lvl="6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7pPr>
                      <a:lvl8pPr marR="0" lvl="7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8pPr>
                      <a:lvl9pPr marR="0" lvl="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/>
                        <a:t>IDM (mean)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b="1">
                          <a:solidFill>
                            <a:schemeClr val="lt1"/>
                          </a:solidFill>
                        </a:defRPr>
                      </a:defPPr>
                      <a:lvl1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1pPr>
                      <a:lvl2pPr marR="0" lvl="1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2pPr>
                      <a:lvl3pPr marR="0" lvl="2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3pPr>
                      <a:lvl4pPr marR="0" lvl="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4pPr>
                      <a:lvl5pPr marR="0" lvl="4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5pPr>
                      <a:lvl6pPr marR="0" lvl="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6pPr>
                      <a:lvl7pPr marR="0" lvl="6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7pPr>
                      <a:lvl8pPr marR="0" lvl="7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8pPr>
                      <a:lvl9pPr marR="0" lvl="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/>
                        <a:t>Correlation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461">
                <a:tc>
                  <a:txBody>
                    <a:bodyPr/>
                    <a:lstStyle>
                      <a:def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>
                          <a:solidFill>
                            <a:schemeClr val="dk1"/>
                          </a:solidFill>
                        </a:defRPr>
                      </a:defPPr>
                      <a:lvl1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1pPr>
                      <a:lvl2pPr marR="0" lvl="1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2pPr>
                      <a:lvl3pPr marR="0" lvl="2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3pPr>
                      <a:lvl4pPr marR="0" lvl="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4pPr>
                      <a:lvl5pPr marR="0" lvl="4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5pPr>
                      <a:lvl6pPr marR="0" lvl="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6pPr>
                      <a:lvl7pPr marR="0" lvl="6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7pPr>
                      <a:lvl8pPr marR="0" lvl="7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8pPr>
                      <a:lvl9pPr marR="0" lvl="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9pPr>
                    </a:lstStyle>
                    <a:p>
                      <a:pPr algn="r">
                        <a:buNone/>
                      </a:pPr>
                      <a:r>
                        <a:rPr lang="en-US"/>
                        <a:t>Flip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>
                          <a:solidFill>
                            <a:schemeClr val="dk1"/>
                          </a:solidFill>
                        </a:defRPr>
                      </a:defPPr>
                      <a:lvl1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1pPr>
                      <a:lvl2pPr marR="0" lvl="1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2pPr>
                      <a:lvl3pPr marR="0" lvl="2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3pPr>
                      <a:lvl4pPr marR="0" lvl="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4pPr>
                      <a:lvl5pPr marR="0" lvl="4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5pPr>
                      <a:lvl6pPr marR="0" lvl="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6pPr>
                      <a:lvl7pPr marR="0" lvl="6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7pPr>
                      <a:lvl8pPr marR="0" lvl="7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8pPr>
                      <a:lvl9pPr marR="0" lvl="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b="1"/>
                        <a:t>0.006862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>
                      <a:def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>
                          <a:solidFill>
                            <a:schemeClr val="dk1"/>
                          </a:solidFill>
                        </a:defRPr>
                      </a:defPPr>
                      <a:lvl1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1pPr>
                      <a:lvl2pPr marR="0" lvl="1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2pPr>
                      <a:lvl3pPr marR="0" lvl="2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3pPr>
                      <a:lvl4pPr marR="0" lvl="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4pPr>
                      <a:lvl5pPr marR="0" lvl="4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5pPr>
                      <a:lvl6pPr marR="0" lvl="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6pPr>
                      <a:lvl7pPr marR="0" lvl="6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7pPr>
                      <a:lvl8pPr marR="0" lvl="7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8pPr>
                      <a:lvl9pPr marR="0" lvl="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b="1"/>
                        <a:t>0.006516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>
                      <a:def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>
                          <a:solidFill>
                            <a:schemeClr val="dk1"/>
                          </a:solidFill>
                        </a:defRPr>
                      </a:defPPr>
                      <a:lvl1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1pPr>
                      <a:lvl2pPr marR="0" lvl="1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2pPr>
                      <a:lvl3pPr marR="0" lvl="2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3pPr>
                      <a:lvl4pPr marR="0" lvl="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4pPr>
                      <a:lvl5pPr marR="0" lvl="4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5pPr>
                      <a:lvl6pPr marR="0" lvl="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6pPr>
                      <a:lvl7pPr marR="0" lvl="6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7pPr>
                      <a:lvl8pPr marR="0" lvl="7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8pPr>
                      <a:lvl9pPr marR="0" lvl="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b="1"/>
                        <a:t>1.0000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461">
                <a:tc>
                  <a:txBody>
                    <a:bodyPr/>
                    <a:lstStyle>
                      <a:def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>
                          <a:solidFill>
                            <a:schemeClr val="dk1"/>
                          </a:solidFill>
                        </a:defRPr>
                      </a:defPPr>
                      <a:lvl1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1pPr>
                      <a:lvl2pPr marR="0" lvl="1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2pPr>
                      <a:lvl3pPr marR="0" lvl="2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3pPr>
                      <a:lvl4pPr marR="0" lvl="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4pPr>
                      <a:lvl5pPr marR="0" lvl="4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5pPr>
                      <a:lvl6pPr marR="0" lvl="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6pPr>
                      <a:lvl7pPr marR="0" lvl="6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7pPr>
                      <a:lvl8pPr marR="0" lvl="7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8pPr>
                      <a:lvl9pPr marR="0" lvl="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9pPr>
                    </a:lstStyle>
                    <a:p>
                      <a:pPr algn="r">
                        <a:buNone/>
                      </a:pPr>
                      <a:r>
                        <a:rPr lang="en-US"/>
                        <a:t>Rotate (90°)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>
                          <a:solidFill>
                            <a:schemeClr val="dk1"/>
                          </a:solidFill>
                        </a:defRPr>
                      </a:defPPr>
                      <a:lvl1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1pPr>
                      <a:lvl2pPr marR="0" lvl="1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2pPr>
                      <a:lvl3pPr marR="0" lvl="2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3pPr>
                      <a:lvl4pPr marR="0" lvl="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4pPr>
                      <a:lvl5pPr marR="0" lvl="4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5pPr>
                      <a:lvl6pPr marR="0" lvl="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6pPr>
                      <a:lvl7pPr marR="0" lvl="6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7pPr>
                      <a:lvl8pPr marR="0" lvl="7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8pPr>
                      <a:lvl9pPr marR="0" lvl="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b="1"/>
                        <a:t>0.021081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>
                      <a:def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>
                          <a:solidFill>
                            <a:schemeClr val="dk1"/>
                          </a:solidFill>
                        </a:defRPr>
                      </a:defPPr>
                      <a:lvl1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1pPr>
                      <a:lvl2pPr marR="0" lvl="1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2pPr>
                      <a:lvl3pPr marR="0" lvl="2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3pPr>
                      <a:lvl4pPr marR="0" lvl="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4pPr>
                      <a:lvl5pPr marR="0" lvl="4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5pPr>
                      <a:lvl6pPr marR="0" lvl="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6pPr>
                      <a:lvl7pPr marR="0" lvl="6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7pPr>
                      <a:lvl8pPr marR="0" lvl="7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8pPr>
                      <a:lvl9pPr marR="0" lvl="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b="1"/>
                        <a:t>0.065820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>
                      <a:def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>
                          <a:solidFill>
                            <a:schemeClr val="dk1"/>
                          </a:solidFill>
                        </a:defRPr>
                      </a:defPPr>
                      <a:lvl1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1pPr>
                      <a:lvl2pPr marR="0" lvl="1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2pPr>
                      <a:lvl3pPr marR="0" lvl="2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3pPr>
                      <a:lvl4pPr marR="0" lvl="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4pPr>
                      <a:lvl5pPr marR="0" lvl="4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5pPr>
                      <a:lvl6pPr marR="0" lvl="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6pPr>
                      <a:lvl7pPr marR="0" lvl="6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7pPr>
                      <a:lvl8pPr marR="0" lvl="7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8pPr>
                      <a:lvl9pPr marR="0" lvl="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b="1" dirty="0"/>
                        <a:t>1.0000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8FD37501-665B-EBD1-74BA-3832A3E1A4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73208" y="6271158"/>
            <a:ext cx="6572571" cy="24789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210F0A-39FE-C0A5-539F-F115E3B957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86510" y="9120773"/>
            <a:ext cx="6506594" cy="26640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377</Words>
  <Application>Microsoft Office PowerPoint</Application>
  <PresentationFormat>Custom</PresentationFormat>
  <Paragraphs>68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Bookman Old Style</vt:lpstr>
      <vt:lpstr>Calibri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vineet desai</cp:lastModifiedBy>
  <cp:revision>2</cp:revision>
  <dcterms:modified xsi:type="dcterms:W3CDTF">2026-01-11T17:04:36Z</dcterms:modified>
</cp:coreProperties>
</file>