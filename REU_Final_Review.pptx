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70" r:id="rId14"/>
    <p:sldId id="272" r:id="rId15"/>
    <p:sldId id="273" r:id="rId16"/>
    <p:sldId id="269" r:id="rId17"/>
    <p:sldId id="268" r:id="rId18"/>
    <p:sldId id="271" r:id="rId19"/>
    <p:sldId id="274" r:id="rId20"/>
  </p:sldIdLst>
  <p:sldSz cx="9144000" cy="6858000" type="screen4x3"/>
  <p:notesSz cx="6858000" cy="9144000"/>
  <p:embeddedFontLst>
    <p:embeddedFont>
      <p:font typeface="Roboto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9FC6DC1-EDD0-4238-9016-A20B97514C5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3" d="100"/>
          <a:sy n="83" d="100"/>
        </p:scale>
        <p:origin x="145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" name="Google Shape;1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7646d8eb5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g377646d8eb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77646d8eb5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g377646d8eb5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7646d8eb5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g377646d8eb5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77646d8eb5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9" name="Google Shape;209;g377646d8eb5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" name="Google Shape;2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77646d8eb5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g377646d8eb5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77646d8eb5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g377646d8eb5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77646d8eb5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g377646d8eb5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77646d8eb5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g377646d8eb5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77646d8eb5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g377646d8eb5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77646d8eb5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g377646d8eb5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77646d8eb5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g377646d8eb5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77646d8eb5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g377646d8eb5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77646d8eb5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g377646d8eb5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78BC1D15-2895-3340-828C-BA53EBAA1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77646d8eb5_0_105:notes">
            <a:extLst>
              <a:ext uri="{FF2B5EF4-FFF2-40B4-BE49-F238E27FC236}">
                <a16:creationId xmlns:a16="http://schemas.microsoft.com/office/drawing/2014/main" id="{315493C0-6B96-21B9-9497-4C841CF85F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g377646d8eb5_0_105:notes">
            <a:extLst>
              <a:ext uri="{FF2B5EF4-FFF2-40B4-BE49-F238E27FC236}">
                <a16:creationId xmlns:a16="http://schemas.microsoft.com/office/drawing/2014/main" id="{B6773967-541A-6F40-C0CA-0E82E01907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86659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9" name="Google Shape;19;p1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body" idx="1"/>
          </p:nvPr>
        </p:nvSpPr>
        <p:spPr>
          <a:xfrm>
            <a:off x="1143000" y="731520"/>
            <a:ext cx="64008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 panose="020F0502020204030204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 panose="020F0502020204030204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7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7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1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1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 panose="020F0502020204030204"/>
              <a:buNone/>
              <a:defRPr sz="3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/>
          <p:nvPr/>
        </p:nvSpPr>
        <p:spPr>
          <a:xfrm>
            <a:off x="7070" y="3142"/>
            <a:ext cx="9144000" cy="6858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96" name="Google Shape;96;p1" descr="kle tech logo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547573" y="229840"/>
            <a:ext cx="2215427" cy="53216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"/>
          <p:cNvSpPr txBox="1"/>
          <p:nvPr/>
        </p:nvSpPr>
        <p:spPr>
          <a:xfrm>
            <a:off x="6318973" y="5491202"/>
            <a:ext cx="27432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Guide Details:</a:t>
            </a:r>
            <a:endParaRPr sz="14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sng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Prof. </a:t>
            </a:r>
            <a:r>
              <a:rPr lang="en-US" sz="1800" u="sng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Preeti Pillai</a:t>
            </a:r>
            <a:endParaRPr sz="1800" b="0" i="0" u="sng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u="sng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Dr.Ujwala Patil</a:t>
            </a:r>
            <a:endParaRPr sz="1800" u="sng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u="sng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Dr.Nalini Iyer</a:t>
            </a:r>
            <a:endParaRPr sz="1800" u="sng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" y="5402050"/>
            <a:ext cx="60198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Students Details:</a:t>
            </a:r>
            <a:endParaRPr sz="14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1.VINEET DESAI                USN:01FE22BEC176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351693" y="719240"/>
            <a:ext cx="8335107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800"/>
            </a:pP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Experience for Undergraduates(REU) – Review </a:t>
            </a:r>
            <a:endParaRPr lang="en-US" sz="1400" b="1" i="0" u="none" strike="noStrike" cap="none" dirty="0">
              <a:solidFill>
                <a:schemeClr val="accent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grpSp>
        <p:nvGrpSpPr>
          <p:cNvPr id="100" name="Google Shape;100;p1"/>
          <p:cNvGrpSpPr/>
          <p:nvPr/>
        </p:nvGrpSpPr>
        <p:grpSpPr>
          <a:xfrm>
            <a:off x="457200" y="229840"/>
            <a:ext cx="3297243" cy="610262"/>
            <a:chOff x="533400" y="17929"/>
            <a:chExt cx="3297243" cy="660782"/>
          </a:xfrm>
        </p:grpSpPr>
        <p:pic>
          <p:nvPicPr>
            <p:cNvPr id="101" name="Google Shape;101;p1"/>
            <p:cNvPicPr preferRelativeResize="0"/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Google Shape;102;p1"/>
            <p:cNvSpPr/>
            <p:nvPr/>
          </p:nvSpPr>
          <p:spPr>
            <a:xfrm>
              <a:off x="1034365" y="17929"/>
              <a:ext cx="279627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1359454" y="253440"/>
              <a:ext cx="2471189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04" name="Google Shape;104;p1"/>
          <p:cNvSpPr txBox="1">
            <a:spLocks noGrp="1"/>
          </p:cNvSpPr>
          <p:nvPr>
            <p:ph type="dt" idx="10"/>
          </p:nvPr>
        </p:nvSpPr>
        <p:spPr>
          <a:xfrm>
            <a:off x="628650" y="6436864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chemeClr val="dk1"/>
                </a:solidFill>
              </a:rPr>
              <a:t>02/01/2026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05" name="Google Shape;105;p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Department of ECE</a:t>
            </a:r>
            <a:endParaRPr dirty="0"/>
          </a:p>
        </p:txBody>
      </p:sp>
      <p:sp>
        <p:nvSpPr>
          <p:cNvPr id="106" name="Google Shape;106;p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</a:t>
            </a:fld>
            <a:endParaRPr lang="en-US"/>
          </a:p>
        </p:txBody>
      </p:sp>
      <p:sp>
        <p:nvSpPr>
          <p:cNvPr id="107" name="Google Shape;107;p1"/>
          <p:cNvSpPr txBox="1"/>
          <p:nvPr/>
        </p:nvSpPr>
        <p:spPr>
          <a:xfrm>
            <a:off x="958165" y="1527505"/>
            <a:ext cx="7298700" cy="859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Title: Hybrid Equivariant-Invariant Feature Learning for Visual perception in Dynamic visual environments</a:t>
            </a:r>
            <a:endParaRPr sz="20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" descr="kle tech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0" cy="5080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" name="Google Shape;114;p2"/>
          <p:cNvCxnSpPr/>
          <p:nvPr/>
        </p:nvCxnSpPr>
        <p:spPr>
          <a:xfrm rot="10800000" flipH="1">
            <a:off x="533400" y="685800"/>
            <a:ext cx="8153400" cy="28863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5" name="Google Shape;115;p2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6" name="Google Shape;116;p2"/>
          <p:cNvSpPr txBox="1">
            <a:spLocks noGrp="1"/>
          </p:cNvSpPr>
          <p:nvPr>
            <p:ph type="dt" idx="10"/>
          </p:nvPr>
        </p:nvSpPr>
        <p:spPr>
          <a:xfrm>
            <a:off x="152400" y="6523037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02/01/2026</a:t>
            </a:r>
            <a:endParaRPr sz="11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7" name="Google Shape;117;p2"/>
          <p:cNvSpPr txBox="1">
            <a:spLocks noGrp="1"/>
          </p:cNvSpPr>
          <p:nvPr>
            <p:ph type="ftr" idx="11"/>
          </p:nvPr>
        </p:nvSpPr>
        <p:spPr>
          <a:xfrm>
            <a:off x="3239068" y="6523037"/>
            <a:ext cx="3352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</a:p>
        </p:txBody>
      </p:sp>
      <p:sp>
        <p:nvSpPr>
          <p:cNvPr id="118" name="Google Shape;118;p2"/>
          <p:cNvSpPr txBox="1">
            <a:spLocks noGrp="1"/>
          </p:cNvSpPr>
          <p:nvPr>
            <p:ph type="sldNum" idx="12"/>
          </p:nvPr>
        </p:nvSpPr>
        <p:spPr>
          <a:xfrm>
            <a:off x="6629400" y="6497424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</a:t>
            </a:r>
          </a:p>
        </p:txBody>
      </p:sp>
      <p:sp>
        <p:nvSpPr>
          <p:cNvPr id="119" name="Google Shape;119;p2"/>
          <p:cNvSpPr/>
          <p:nvPr/>
        </p:nvSpPr>
        <p:spPr>
          <a:xfrm>
            <a:off x="339448" y="1317050"/>
            <a:ext cx="1869300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Contents</a:t>
            </a:r>
            <a:endParaRPr sz="21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pSp>
        <p:nvGrpSpPr>
          <p:cNvPr id="120" name="Google Shape;120;p2"/>
          <p:cNvGrpSpPr/>
          <p:nvPr/>
        </p:nvGrpSpPr>
        <p:grpSpPr>
          <a:xfrm>
            <a:off x="549088" y="45376"/>
            <a:ext cx="3297243" cy="610262"/>
            <a:chOff x="533400" y="17929"/>
            <a:chExt cx="3297243" cy="660782"/>
          </a:xfrm>
        </p:grpSpPr>
        <p:pic>
          <p:nvPicPr>
            <p:cNvPr id="121" name="Google Shape;121;p2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p2"/>
            <p:cNvSpPr/>
            <p:nvPr/>
          </p:nvSpPr>
          <p:spPr>
            <a:xfrm>
              <a:off x="1034365" y="17929"/>
              <a:ext cx="279627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1359454" y="253440"/>
              <a:ext cx="2471189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24" name="Google Shape;124;p2"/>
          <p:cNvSpPr txBox="1"/>
          <p:nvPr/>
        </p:nvSpPr>
        <p:spPr>
          <a:xfrm>
            <a:off x="541200" y="1798425"/>
            <a:ext cx="8137800" cy="37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 panose="020F0502020204030204"/>
              <a:buChar char="●"/>
            </a:pPr>
            <a:r>
              <a:rPr lang="en-US" sz="21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  <a:endParaRPr sz="2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 panose="020F0502020204030204"/>
              <a:buChar char="●"/>
            </a:pPr>
            <a:r>
              <a:rPr lang="en-US" sz="21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Problem statement</a:t>
            </a:r>
            <a:endParaRPr sz="2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 panose="020F0502020204030204"/>
              <a:buChar char="●"/>
            </a:pPr>
            <a:r>
              <a:rPr lang="en-US" sz="21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</a:t>
            </a:r>
            <a:endParaRPr sz="2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 panose="020F0502020204030204"/>
              <a:buChar char="●"/>
            </a:pPr>
            <a:r>
              <a:rPr lang="en-US" sz="21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Objectives</a:t>
            </a: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 panose="020F0502020204030204"/>
              <a:buChar char="●"/>
            </a:pPr>
            <a:r>
              <a:rPr lang="en-US" sz="21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Theoretical background</a:t>
            </a: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 panose="020F0502020204030204"/>
              <a:buChar char="●"/>
            </a:pPr>
            <a:r>
              <a:rPr lang="en-US" sz="21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Proposed model architecture</a:t>
            </a: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 panose="020F0502020204030204"/>
              <a:buChar char="●"/>
            </a:pPr>
            <a:r>
              <a:rPr lang="en-US" sz="21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Data flow diagram</a:t>
            </a: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 panose="020F0502020204030204"/>
              <a:buChar char="●"/>
            </a:pPr>
            <a:r>
              <a:rPr lang="en-US" sz="21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Results and evaluation metrices </a:t>
            </a: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 panose="020F0502020204030204"/>
              <a:buChar char="●"/>
            </a:pPr>
            <a:r>
              <a:rPr lang="en-US" sz="21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Visual Results</a:t>
            </a: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 panose="020F0502020204030204"/>
              <a:buChar char="●"/>
            </a:pPr>
            <a:endParaRPr lang="en-US" sz="21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 panose="020F0502020204030204"/>
              <a:buChar char="●"/>
            </a:pPr>
            <a:endParaRPr sz="2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 panose="020F0502020204030204"/>
              <a:buNone/>
            </a:pPr>
            <a:endParaRPr sz="2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 panose="020F0502020204030204"/>
              <a:buNone/>
            </a:pPr>
            <a:endParaRPr sz="2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endParaRPr sz="2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" name="Google Shape;129;p3"/>
          <p:cNvCxnSpPr/>
          <p:nvPr/>
        </p:nvCxnSpPr>
        <p:spPr>
          <a:xfrm>
            <a:off x="533400" y="714663"/>
            <a:ext cx="7924800" cy="0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0" name="Google Shape;130;p3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1" name="Google Shape;131;p3"/>
          <p:cNvSpPr txBox="1">
            <a:spLocks noGrp="1"/>
          </p:cNvSpPr>
          <p:nvPr>
            <p:ph type="dt" idx="10"/>
          </p:nvPr>
        </p:nvSpPr>
        <p:spPr>
          <a:xfrm>
            <a:off x="152400" y="6523037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02/01/2026</a:t>
            </a:r>
            <a:endParaRPr sz="12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2" name="Google Shape;132;p3"/>
          <p:cNvSpPr txBox="1">
            <a:spLocks noGrp="1"/>
          </p:cNvSpPr>
          <p:nvPr>
            <p:ph type="sldNum" idx="12"/>
          </p:nvPr>
        </p:nvSpPr>
        <p:spPr>
          <a:xfrm>
            <a:off x="6629400" y="6497424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</a:t>
            </a:r>
            <a:endParaRPr sz="1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291673" y="1218788"/>
            <a:ext cx="2057400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  <a:endParaRPr sz="21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541200" y="1438325"/>
            <a:ext cx="7909200" cy="23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8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Dynamic visual environments (autonomous driving, robotics, surveillance) are unpredictable with changing viewpoints, motions, lighting, and weather.</a:t>
            </a: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Challenge: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Deep models fail under distribution shifts → lose geometric consistency or semantic reliability.</a:t>
            </a: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Equivariance preserves geometry, invariance preserves meaning — but each alone is insufficient.</a:t>
            </a: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Existing test-time adaptation often ignores symmetry constraints.</a:t>
            </a: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Vision: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 hybrid equivariant–invariant representation, combined with test-time adaptation, for robust perception in deployment.</a:t>
            </a: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35" name="Google Shape;135;p3" descr="kle tech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0" cy="50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6" name="Google Shape;136;p3"/>
          <p:cNvGrpSpPr/>
          <p:nvPr/>
        </p:nvGrpSpPr>
        <p:grpSpPr>
          <a:xfrm>
            <a:off x="549088" y="45376"/>
            <a:ext cx="3297243" cy="610262"/>
            <a:chOff x="533400" y="17929"/>
            <a:chExt cx="3297243" cy="660782"/>
          </a:xfrm>
        </p:grpSpPr>
        <p:pic>
          <p:nvPicPr>
            <p:cNvPr id="137" name="Google Shape;137;p3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" name="Google Shape;138;p3"/>
            <p:cNvSpPr/>
            <p:nvPr/>
          </p:nvSpPr>
          <p:spPr>
            <a:xfrm>
              <a:off x="1034365" y="17929"/>
              <a:ext cx="279627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1359454" y="253440"/>
              <a:ext cx="2471189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40" name="Google Shape;140;p3"/>
          <p:cNvSpPr txBox="1">
            <a:spLocks noGrp="1"/>
          </p:cNvSpPr>
          <p:nvPr>
            <p:ph type="ftr" idx="11"/>
          </p:nvPr>
        </p:nvSpPr>
        <p:spPr>
          <a:xfrm>
            <a:off x="3228400" y="66014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  <a:endParaRPr sz="12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05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5" name="Google Shape;145;p5"/>
          <p:cNvCxnSpPr/>
          <p:nvPr/>
        </p:nvCxnSpPr>
        <p:spPr>
          <a:xfrm>
            <a:off x="533400" y="714663"/>
            <a:ext cx="7924800" cy="0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7" name="Google Shape;147;p5"/>
          <p:cNvSpPr txBox="1">
            <a:spLocks noGrp="1"/>
          </p:cNvSpPr>
          <p:nvPr>
            <p:ph type="dt" idx="10"/>
          </p:nvPr>
        </p:nvSpPr>
        <p:spPr>
          <a:xfrm>
            <a:off x="152400" y="6523037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02/01/2026</a:t>
            </a:r>
            <a:endParaRPr sz="12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8" name="Google Shape;148;p5"/>
          <p:cNvSpPr txBox="1">
            <a:spLocks noGrp="1"/>
          </p:cNvSpPr>
          <p:nvPr>
            <p:ph type="ftr" idx="11"/>
          </p:nvPr>
        </p:nvSpPr>
        <p:spPr>
          <a:xfrm>
            <a:off x="3239068" y="6523037"/>
            <a:ext cx="3352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</a:p>
        </p:txBody>
      </p:sp>
      <p:sp>
        <p:nvSpPr>
          <p:cNvPr id="149" name="Google Shape;149;p5"/>
          <p:cNvSpPr txBox="1">
            <a:spLocks noGrp="1"/>
          </p:cNvSpPr>
          <p:nvPr>
            <p:ph type="sldNum" idx="12"/>
          </p:nvPr>
        </p:nvSpPr>
        <p:spPr>
          <a:xfrm>
            <a:off x="6629400" y="6497424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</a:t>
            </a:r>
          </a:p>
        </p:txBody>
      </p:sp>
      <p:sp>
        <p:nvSpPr>
          <p:cNvPr id="150" name="Google Shape;150;p5"/>
          <p:cNvSpPr/>
          <p:nvPr/>
        </p:nvSpPr>
        <p:spPr>
          <a:xfrm>
            <a:off x="532827" y="1172500"/>
            <a:ext cx="2438400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Problem Statement</a:t>
            </a:r>
            <a:endParaRPr sz="21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51" name="Google Shape;151;p5" descr="kle tech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0" cy="50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5"/>
          <p:cNvGrpSpPr/>
          <p:nvPr/>
        </p:nvGrpSpPr>
        <p:grpSpPr>
          <a:xfrm>
            <a:off x="549088" y="45376"/>
            <a:ext cx="3297243" cy="610262"/>
            <a:chOff x="533400" y="17929"/>
            <a:chExt cx="3297243" cy="660782"/>
          </a:xfrm>
        </p:grpSpPr>
        <p:pic>
          <p:nvPicPr>
            <p:cNvPr id="153" name="Google Shape;153;p5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5"/>
            <p:cNvSpPr/>
            <p:nvPr/>
          </p:nvSpPr>
          <p:spPr>
            <a:xfrm>
              <a:off x="1034365" y="17929"/>
              <a:ext cx="279627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1359454" y="253440"/>
              <a:ext cx="2471189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56" name="Google Shape;156;p5"/>
          <p:cNvSpPr/>
          <p:nvPr/>
        </p:nvSpPr>
        <p:spPr>
          <a:xfrm>
            <a:off x="574768" y="2909952"/>
            <a:ext cx="2588100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Inference: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571681" y="1801833"/>
            <a:ext cx="8001000" cy="735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Hybrid Equivariant-Invariant Feature Learning for visual perception in Dynamic visual environments.</a:t>
            </a:r>
            <a:endParaRPr sz="140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574775" y="3444013"/>
            <a:ext cx="7620000" cy="22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 hybrid equivariant–invariant representation, combined with test-time adaptation, is required to achieve robust, efficient, and continually adaptive perception in real-world dynamic environments.</a:t>
            </a: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3" name="Google Shape;163;g377646d8eb5_0_20"/>
          <p:cNvCxnSpPr/>
          <p:nvPr/>
        </p:nvCxnSpPr>
        <p:spPr>
          <a:xfrm>
            <a:off x="533400" y="714663"/>
            <a:ext cx="7924800" cy="0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4" name="Google Shape;164;g377646d8eb5_0_20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5" name="Google Shape;165;g377646d8eb5_0_20"/>
          <p:cNvSpPr txBox="1">
            <a:spLocks noGrp="1"/>
          </p:cNvSpPr>
          <p:nvPr>
            <p:ph type="dt" idx="10"/>
          </p:nvPr>
        </p:nvSpPr>
        <p:spPr>
          <a:xfrm>
            <a:off x="152400" y="6523037"/>
            <a:ext cx="251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02/01/2026</a:t>
            </a:r>
            <a:endParaRPr sz="12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6" name="Google Shape;166;g377646d8eb5_0_20"/>
          <p:cNvSpPr txBox="1">
            <a:spLocks noGrp="1"/>
          </p:cNvSpPr>
          <p:nvPr>
            <p:ph type="ftr" idx="11"/>
          </p:nvPr>
        </p:nvSpPr>
        <p:spPr>
          <a:xfrm>
            <a:off x="3239068" y="6523037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</a:p>
        </p:txBody>
      </p:sp>
      <p:sp>
        <p:nvSpPr>
          <p:cNvPr id="167" name="Google Shape;167;g377646d8eb5_0_20"/>
          <p:cNvSpPr txBox="1">
            <a:spLocks noGrp="1"/>
          </p:cNvSpPr>
          <p:nvPr>
            <p:ph type="sldNum" idx="12"/>
          </p:nvPr>
        </p:nvSpPr>
        <p:spPr>
          <a:xfrm>
            <a:off x="6629400" y="6497424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dirty="0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/>
          </a:p>
        </p:txBody>
      </p:sp>
      <p:sp>
        <p:nvSpPr>
          <p:cNvPr id="168" name="Google Shape;168;g377646d8eb5_0_20"/>
          <p:cNvSpPr/>
          <p:nvPr/>
        </p:nvSpPr>
        <p:spPr>
          <a:xfrm>
            <a:off x="533402" y="846125"/>
            <a:ext cx="2438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Survey:</a:t>
            </a:r>
            <a:endParaRPr sz="21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69" name="Google Shape;169;g377646d8eb5_0_20" descr="kle tech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1" cy="50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g377646d8eb5_0_20"/>
          <p:cNvGrpSpPr/>
          <p:nvPr/>
        </p:nvGrpSpPr>
        <p:grpSpPr>
          <a:xfrm>
            <a:off x="549088" y="45375"/>
            <a:ext cx="3297265" cy="610232"/>
            <a:chOff x="533400" y="17929"/>
            <a:chExt cx="3297265" cy="660782"/>
          </a:xfrm>
        </p:grpSpPr>
        <p:pic>
          <p:nvPicPr>
            <p:cNvPr id="171" name="Google Shape;171;g377646d8eb5_0_20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g377646d8eb5_0_20"/>
            <p:cNvSpPr/>
            <p:nvPr/>
          </p:nvSpPr>
          <p:spPr>
            <a:xfrm>
              <a:off x="1034365" y="17929"/>
              <a:ext cx="2796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3" name="Google Shape;173;g377646d8eb5_0_20"/>
            <p:cNvSpPr/>
            <p:nvPr/>
          </p:nvSpPr>
          <p:spPr>
            <a:xfrm>
              <a:off x="1359454" y="253440"/>
              <a:ext cx="2471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aphicFrame>
        <p:nvGraphicFramePr>
          <p:cNvPr id="174" name="Google Shape;174;g377646d8eb5_0_20"/>
          <p:cNvGraphicFramePr/>
          <p:nvPr/>
        </p:nvGraphicFramePr>
        <p:xfrm>
          <a:off x="316263" y="1393075"/>
          <a:ext cx="8511475" cy="4785300"/>
        </p:xfrm>
        <a:graphic>
          <a:graphicData uri="http://schemas.openxmlformats.org/drawingml/2006/table">
            <a:tbl>
              <a:tblPr>
                <a:noFill/>
                <a:tableStyleId>{29FC6DC1-EDD0-4238-9016-A20B97514C54}</a:tableStyleId>
              </a:tblPr>
              <a:tblGrid>
                <a:gridCol w="133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9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2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Title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Methodology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Results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Gaps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9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Robust Perception through Equivariance</a:t>
                      </a:r>
                      <a:endParaRPr sz="15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Applies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input transformations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(e.g., rotation, flip, translation) during inference to test if the network output transforms consistently.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Introduces a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symmetry-consistency loss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at test time: penalizes prediction differences between original and transformed inputs.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Does not require retraining — applied directly on pretrained models.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Evaluated on classification (ImageNet), segmentation (Cityscapes), and detection (MS-COCO) tasks to show improved robustness.</a:t>
                      </a: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ImageNet (classification): improved top-1 accuracy under corrupted inputs.</a:t>
                      </a:r>
                      <a:br>
                        <a:rPr lang="en-US" sz="12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2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Cityscapes (segmentation): higher </a:t>
                      </a:r>
                      <a:r>
                        <a:rPr lang="en-US" sz="12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mIoU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when tested with rotated or shifted inputs.</a:t>
                      </a:r>
                      <a:br>
                        <a:rPr lang="en-US" sz="12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2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MS-COCO (detection): improved </a:t>
                      </a:r>
                      <a:r>
                        <a:rPr lang="en-US" sz="12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mAP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under viewpoint transformations.</a:t>
                      </a:r>
                      <a:br>
                        <a:rPr lang="en-US" sz="12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2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Overall: enforcing equivariance at test time → significant robustness without retraining.</a:t>
                      </a:r>
                      <a:endParaRPr sz="12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Only handles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equivariance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; ignores invariance.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Extra test-time computation (multiple transformations).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 mechanism for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continual adaptation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when domains shift over time.</a:t>
                      </a: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9" name="Google Shape;179;g377646d8eb5_0_40"/>
          <p:cNvCxnSpPr/>
          <p:nvPr/>
        </p:nvCxnSpPr>
        <p:spPr>
          <a:xfrm>
            <a:off x="533400" y="714663"/>
            <a:ext cx="7924800" cy="0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0" name="Google Shape;180;g377646d8eb5_0_40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1" name="Google Shape;181;g377646d8eb5_0_40"/>
          <p:cNvSpPr txBox="1">
            <a:spLocks noGrp="1"/>
          </p:cNvSpPr>
          <p:nvPr>
            <p:ph type="dt" idx="10"/>
          </p:nvPr>
        </p:nvSpPr>
        <p:spPr>
          <a:xfrm>
            <a:off x="152400" y="6523037"/>
            <a:ext cx="251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02/01/2026</a:t>
            </a:r>
            <a:endParaRPr sz="12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2" name="Google Shape;182;g377646d8eb5_0_40"/>
          <p:cNvSpPr txBox="1">
            <a:spLocks noGrp="1"/>
          </p:cNvSpPr>
          <p:nvPr>
            <p:ph type="ftr" idx="11"/>
          </p:nvPr>
        </p:nvSpPr>
        <p:spPr>
          <a:xfrm>
            <a:off x="3239068" y="6523037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</a:p>
        </p:txBody>
      </p:sp>
      <p:sp>
        <p:nvSpPr>
          <p:cNvPr id="183" name="Google Shape;183;g377646d8eb5_0_40"/>
          <p:cNvSpPr txBox="1">
            <a:spLocks noGrp="1"/>
          </p:cNvSpPr>
          <p:nvPr>
            <p:ph type="sldNum" idx="12"/>
          </p:nvPr>
        </p:nvSpPr>
        <p:spPr>
          <a:xfrm>
            <a:off x="6629400" y="6497424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dirty="0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6</a:t>
            </a:r>
            <a:endParaRPr dirty="0"/>
          </a:p>
        </p:txBody>
      </p:sp>
      <p:sp>
        <p:nvSpPr>
          <p:cNvPr id="184" name="Google Shape;184;g377646d8eb5_0_40"/>
          <p:cNvSpPr/>
          <p:nvPr/>
        </p:nvSpPr>
        <p:spPr>
          <a:xfrm>
            <a:off x="549102" y="773750"/>
            <a:ext cx="2438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Survey:</a:t>
            </a:r>
            <a:endParaRPr sz="21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85" name="Google Shape;185;g377646d8eb5_0_40" descr="kle tech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1" cy="50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" name="Google Shape;186;g377646d8eb5_0_40"/>
          <p:cNvGrpSpPr/>
          <p:nvPr/>
        </p:nvGrpSpPr>
        <p:grpSpPr>
          <a:xfrm>
            <a:off x="549088" y="45375"/>
            <a:ext cx="3297265" cy="610232"/>
            <a:chOff x="533400" y="17929"/>
            <a:chExt cx="3297265" cy="660782"/>
          </a:xfrm>
        </p:grpSpPr>
        <p:pic>
          <p:nvPicPr>
            <p:cNvPr id="187" name="Google Shape;187;g377646d8eb5_0_40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g377646d8eb5_0_40"/>
            <p:cNvSpPr/>
            <p:nvPr/>
          </p:nvSpPr>
          <p:spPr>
            <a:xfrm>
              <a:off x="1034365" y="17929"/>
              <a:ext cx="2796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9" name="Google Shape;189;g377646d8eb5_0_40"/>
            <p:cNvSpPr/>
            <p:nvPr/>
          </p:nvSpPr>
          <p:spPr>
            <a:xfrm>
              <a:off x="1359454" y="253440"/>
              <a:ext cx="2471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aphicFrame>
        <p:nvGraphicFramePr>
          <p:cNvPr id="190" name="Google Shape;190;g377646d8eb5_0_40"/>
          <p:cNvGraphicFramePr/>
          <p:nvPr/>
        </p:nvGraphicFramePr>
        <p:xfrm>
          <a:off x="316250" y="1249513"/>
          <a:ext cx="8511475" cy="5187636"/>
        </p:xfrm>
        <a:graphic>
          <a:graphicData uri="http://schemas.openxmlformats.org/drawingml/2006/table">
            <a:tbl>
              <a:tblPr>
                <a:noFill/>
                <a:tableStyleId>{29FC6DC1-EDD0-4238-9016-A20B97514C54}</a:tableStyleId>
              </a:tblPr>
              <a:tblGrid>
                <a:gridCol w="133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9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Title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Methodology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Results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Gaps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3C7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5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Exploring Complementary Strengths of Invariant and Equivariant Representations for Few-Shot Learning</a:t>
                      </a:r>
                      <a:endParaRPr sz="12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Proposes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joint feature learning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of invariance and equivariance in a single model.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Adds two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auxiliary self-supervised tasks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: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457200" lvl="0" indent="-31115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●"/>
                      </a:pPr>
                      <a:r>
                        <a:rPr lang="en-US" sz="1300" i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Transformation discrimination task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: predicts which transformation was applied → encourages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equivariance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457200" lvl="0" indent="-3111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●"/>
                      </a:pPr>
                      <a:r>
                        <a:rPr lang="en-US" sz="1300" i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Instance discrimination task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: distinguishes between samples regardless of transformations → encourages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invariance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Trains the model to balance both tasks, ensuring the feature space encodes structure (equivariance) and stability (invariance).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Tested in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few-shot learning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setups to show the hybrid approach generalizes better than either alone.</a:t>
                      </a: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MiniImageNet: improved 1-shot and 5-shot classification accuracy compared to invariant-only or equivariant-only methods.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CIFAR-FS and TieredImageNet: consistent gains across few-shot learning tasks.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Demonstrated that hybrid features outperform both extremes.</a:t>
                      </a: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Experiments limited to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few-shot classification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; not applied to dense perception tasks (detection/segmentation).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 adaptation strategy — assumes training and test domains are similar.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Trade-off between invariance/equivariance is not dynamically managed.</a:t>
                      </a: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5" name="Google Shape;195;g377646d8eb5_0_57"/>
          <p:cNvCxnSpPr/>
          <p:nvPr/>
        </p:nvCxnSpPr>
        <p:spPr>
          <a:xfrm>
            <a:off x="533400" y="714663"/>
            <a:ext cx="7924800" cy="0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6" name="Google Shape;196;g377646d8eb5_0_57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7" name="Google Shape;197;g377646d8eb5_0_57"/>
          <p:cNvSpPr txBox="1">
            <a:spLocks noGrp="1"/>
          </p:cNvSpPr>
          <p:nvPr>
            <p:ph type="dt" idx="10"/>
          </p:nvPr>
        </p:nvSpPr>
        <p:spPr>
          <a:xfrm>
            <a:off x="152400" y="6523037"/>
            <a:ext cx="251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02/01/2026</a:t>
            </a:r>
            <a:endParaRPr sz="12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8" name="Google Shape;198;g377646d8eb5_0_57"/>
          <p:cNvSpPr txBox="1">
            <a:spLocks noGrp="1"/>
          </p:cNvSpPr>
          <p:nvPr>
            <p:ph type="ftr" idx="11"/>
          </p:nvPr>
        </p:nvSpPr>
        <p:spPr>
          <a:xfrm>
            <a:off x="3239068" y="6523037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</a:p>
        </p:txBody>
      </p:sp>
      <p:sp>
        <p:nvSpPr>
          <p:cNvPr id="199" name="Google Shape;199;g377646d8eb5_0_57"/>
          <p:cNvSpPr txBox="1">
            <a:spLocks noGrp="1"/>
          </p:cNvSpPr>
          <p:nvPr>
            <p:ph type="sldNum" idx="12"/>
          </p:nvPr>
        </p:nvSpPr>
        <p:spPr>
          <a:xfrm>
            <a:off x="6629400" y="6497424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dirty="0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7</a:t>
            </a:r>
            <a:endParaRPr dirty="0"/>
          </a:p>
        </p:txBody>
      </p:sp>
      <p:sp>
        <p:nvSpPr>
          <p:cNvPr id="200" name="Google Shape;200;g377646d8eb5_0_57"/>
          <p:cNvSpPr/>
          <p:nvPr/>
        </p:nvSpPr>
        <p:spPr>
          <a:xfrm>
            <a:off x="549102" y="871200"/>
            <a:ext cx="2438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Survey:</a:t>
            </a:r>
            <a:endParaRPr sz="21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01" name="Google Shape;201;g377646d8eb5_0_57" descr="kle tech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1" cy="50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2" name="Google Shape;202;g377646d8eb5_0_57"/>
          <p:cNvGrpSpPr/>
          <p:nvPr/>
        </p:nvGrpSpPr>
        <p:grpSpPr>
          <a:xfrm>
            <a:off x="549088" y="45375"/>
            <a:ext cx="3297265" cy="610232"/>
            <a:chOff x="533400" y="17929"/>
            <a:chExt cx="3297265" cy="660782"/>
          </a:xfrm>
        </p:grpSpPr>
        <p:pic>
          <p:nvPicPr>
            <p:cNvPr id="203" name="Google Shape;203;g377646d8eb5_0_57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" name="Google Shape;204;g377646d8eb5_0_57"/>
            <p:cNvSpPr/>
            <p:nvPr/>
          </p:nvSpPr>
          <p:spPr>
            <a:xfrm>
              <a:off x="1034365" y="17929"/>
              <a:ext cx="2796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5" name="Google Shape;205;g377646d8eb5_0_57"/>
            <p:cNvSpPr/>
            <p:nvPr/>
          </p:nvSpPr>
          <p:spPr>
            <a:xfrm>
              <a:off x="1359454" y="253440"/>
              <a:ext cx="2471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aphicFrame>
        <p:nvGraphicFramePr>
          <p:cNvPr id="206" name="Google Shape;206;g377646d8eb5_0_57"/>
          <p:cNvGraphicFramePr/>
          <p:nvPr/>
        </p:nvGraphicFramePr>
        <p:xfrm>
          <a:off x="384013" y="1443213"/>
          <a:ext cx="8511475" cy="4739580"/>
        </p:xfrm>
        <a:graphic>
          <a:graphicData uri="http://schemas.openxmlformats.org/drawingml/2006/table">
            <a:tbl>
              <a:tblPr>
                <a:noFill/>
                <a:tableStyleId>{29FC6DC1-EDD0-4238-9016-A20B97514C54}</a:tableStyleId>
              </a:tblPr>
              <a:tblGrid>
                <a:gridCol w="133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9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Title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Methodology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Results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Gaps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3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 Materials Foundation Model via Hybrid Invariant-Equivariant Architectures</a:t>
                      </a: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Builds a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hybrid architecture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that combines invariant and equivariant layers.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Equivariant layers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are placed in parts of the network where geometric structure matters (e.g., forces, 3D positions).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Invariant layers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are used where global semantic information suffices, improving computational efficiency.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The design is mathematically proven to respect physical constraints like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O(3) equivariance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and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force conservation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Trained on molecular dynamics datasets and compared to full-equivariant baselines, showing faster inference while retaining accuracy.</a:t>
                      </a: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Molecular dynamics datasets:</a:t>
                      </a: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Force prediction MAE/RMSE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as low as equivariant-only models.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Inference throughput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~22.6 samples/s (≈2× faster than full-equivariant baseline at 9.4 samples/s).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Proved it’s possible to combine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accuracy + efficiency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in a hybrid model.</a:t>
                      </a: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Evaluated mainly on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physics/molecular data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, not visual perception tasks.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Hybrid principles not directly validated for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image/video tasks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 consideration of domain adaptation or deployment-time shifts.</a:t>
                      </a: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" name="Google Shape;211;g377646d8eb5_0_77"/>
          <p:cNvCxnSpPr/>
          <p:nvPr/>
        </p:nvCxnSpPr>
        <p:spPr>
          <a:xfrm>
            <a:off x="533400" y="714663"/>
            <a:ext cx="7924800" cy="0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2" name="Google Shape;212;g377646d8eb5_0_77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3" name="Google Shape;213;g377646d8eb5_0_77"/>
          <p:cNvSpPr txBox="1">
            <a:spLocks noGrp="1"/>
          </p:cNvSpPr>
          <p:nvPr>
            <p:ph type="dt" idx="10"/>
          </p:nvPr>
        </p:nvSpPr>
        <p:spPr>
          <a:xfrm>
            <a:off x="152400" y="6523037"/>
            <a:ext cx="251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02/01/2026</a:t>
            </a:r>
            <a:endParaRPr sz="12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4" name="Google Shape;214;g377646d8eb5_0_77"/>
          <p:cNvSpPr txBox="1">
            <a:spLocks noGrp="1"/>
          </p:cNvSpPr>
          <p:nvPr>
            <p:ph type="ftr" idx="11"/>
          </p:nvPr>
        </p:nvSpPr>
        <p:spPr>
          <a:xfrm>
            <a:off x="3239068" y="6523037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</a:p>
        </p:txBody>
      </p:sp>
      <p:sp>
        <p:nvSpPr>
          <p:cNvPr id="215" name="Google Shape;215;g377646d8eb5_0_77"/>
          <p:cNvSpPr txBox="1">
            <a:spLocks noGrp="1"/>
          </p:cNvSpPr>
          <p:nvPr>
            <p:ph type="sldNum" idx="12"/>
          </p:nvPr>
        </p:nvSpPr>
        <p:spPr>
          <a:xfrm>
            <a:off x="6629400" y="6497424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dirty="0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8</a:t>
            </a:r>
            <a:endParaRPr dirty="0"/>
          </a:p>
        </p:txBody>
      </p:sp>
      <p:sp>
        <p:nvSpPr>
          <p:cNvPr id="216" name="Google Shape;216;g377646d8eb5_0_77"/>
          <p:cNvSpPr/>
          <p:nvPr/>
        </p:nvSpPr>
        <p:spPr>
          <a:xfrm>
            <a:off x="533402" y="841950"/>
            <a:ext cx="2438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Survey:</a:t>
            </a:r>
            <a:endParaRPr sz="21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17" name="Google Shape;217;g377646d8eb5_0_77" descr="kle tech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1" cy="50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8" name="Google Shape;218;g377646d8eb5_0_77"/>
          <p:cNvGrpSpPr/>
          <p:nvPr/>
        </p:nvGrpSpPr>
        <p:grpSpPr>
          <a:xfrm>
            <a:off x="549088" y="45375"/>
            <a:ext cx="3297265" cy="610232"/>
            <a:chOff x="533400" y="17929"/>
            <a:chExt cx="3297265" cy="660782"/>
          </a:xfrm>
        </p:grpSpPr>
        <p:pic>
          <p:nvPicPr>
            <p:cNvPr id="219" name="Google Shape;219;g377646d8eb5_0_77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" name="Google Shape;220;g377646d8eb5_0_77"/>
            <p:cNvSpPr/>
            <p:nvPr/>
          </p:nvSpPr>
          <p:spPr>
            <a:xfrm>
              <a:off x="1034365" y="17929"/>
              <a:ext cx="2796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1" name="Google Shape;221;g377646d8eb5_0_77"/>
            <p:cNvSpPr/>
            <p:nvPr/>
          </p:nvSpPr>
          <p:spPr>
            <a:xfrm>
              <a:off x="1359454" y="253440"/>
              <a:ext cx="2471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aphicFrame>
        <p:nvGraphicFramePr>
          <p:cNvPr id="222" name="Google Shape;222;g377646d8eb5_0_77"/>
          <p:cNvGraphicFramePr/>
          <p:nvPr/>
        </p:nvGraphicFramePr>
        <p:xfrm>
          <a:off x="316263" y="1348250"/>
          <a:ext cx="8511475" cy="5084004"/>
        </p:xfrm>
        <a:graphic>
          <a:graphicData uri="http://schemas.openxmlformats.org/drawingml/2006/table">
            <a:tbl>
              <a:tblPr>
                <a:noFill/>
                <a:tableStyleId>{29FC6DC1-EDD0-4238-9016-A20B97514C54}</a:tableStyleId>
              </a:tblPr>
              <a:tblGrid>
                <a:gridCol w="133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9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Title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Methodology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Results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Gaps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3C7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3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TestDG: Test-time Domain Generalization for Continual Test-time Adaptation</a:t>
                      </a: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Frames Continual Test-Time Adaptation (CTTA) as an online learning process.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Introduces a domain information extractor that captures domain-specific cues, amplified for easier separation.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Maintains a prototype memory queue storing embeddings of past domains.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Alternates between two adaptation steps: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457200" lvl="0" indent="-31115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AutoNum type="arabicPeriod"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Domain step → updates domain extractor + amplifier (encoder frozen).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457200" lvl="0" indent="-3111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AutoNum type="arabicPeriod"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Invariant step → aligns current domain embeddings to prototypes using MMD (encoder updated).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Incorporates domain change detection to trigger adaptation only when significant shifts occur.</a:t>
                      </a: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DomainNet, Office-Home, CIFAR-10C/100C, ImageNet-C:</a:t>
                      </a: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1.Outperformed state-of-the-art CTTA baselines (CoTTA, TENT).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2.Maintained higher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accuracy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and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mIoU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across sequential domain shifts.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3.Stable under continual adaptation due to prototype memory + domain detection.</a:t>
                      </a: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Focused only on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invariance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(domain removal).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Does not preserve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equivariance constraints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(geometric consistency may be lost).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Prototype memory can grow large in long-term deployments.</a:t>
                      </a: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7" name="Google Shape;227;p10"/>
          <p:cNvCxnSpPr/>
          <p:nvPr/>
        </p:nvCxnSpPr>
        <p:spPr>
          <a:xfrm>
            <a:off x="533400" y="655638"/>
            <a:ext cx="8077200" cy="0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8" name="Google Shape;228;p10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533400" y="884390"/>
            <a:ext cx="3810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21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Objectives:</a:t>
            </a:r>
            <a:endParaRPr sz="2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30" name="Google Shape;230;p10" descr="kle tech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0" cy="50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1" name="Google Shape;231;p10"/>
          <p:cNvGrpSpPr/>
          <p:nvPr/>
        </p:nvGrpSpPr>
        <p:grpSpPr>
          <a:xfrm>
            <a:off x="549088" y="45376"/>
            <a:ext cx="3297243" cy="610262"/>
            <a:chOff x="533400" y="17929"/>
            <a:chExt cx="3297243" cy="660782"/>
          </a:xfrm>
        </p:grpSpPr>
        <p:pic>
          <p:nvPicPr>
            <p:cNvPr id="232" name="Google Shape;232;p10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" name="Google Shape;233;p10"/>
            <p:cNvSpPr/>
            <p:nvPr/>
          </p:nvSpPr>
          <p:spPr>
            <a:xfrm>
              <a:off x="1034365" y="17929"/>
              <a:ext cx="279627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4" name="Google Shape;234;p10"/>
            <p:cNvSpPr/>
            <p:nvPr/>
          </p:nvSpPr>
          <p:spPr>
            <a:xfrm>
              <a:off x="1359454" y="253440"/>
              <a:ext cx="2471189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35" name="Google Shape;235;p10"/>
          <p:cNvSpPr txBox="1">
            <a:spLocks noGrp="1"/>
          </p:cNvSpPr>
          <p:nvPr>
            <p:ph type="dt" idx="10"/>
          </p:nvPr>
        </p:nvSpPr>
        <p:spPr>
          <a:xfrm>
            <a:off x="533400" y="6523039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 dirty="0">
                <a:solidFill>
                  <a:schemeClr val="dk1"/>
                </a:solidFill>
                <a:highlight>
                  <a:srgbClr val="D8D8D8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02/01/2026</a:t>
            </a:r>
            <a:endParaRPr sz="1200" dirty="0">
              <a:solidFill>
                <a:schemeClr val="dk1"/>
              </a:solidFill>
              <a:highlight>
                <a:srgbClr val="D8D8D8"/>
              </a:highlight>
            </a:endParaRPr>
          </a:p>
        </p:txBody>
      </p:sp>
      <p:sp>
        <p:nvSpPr>
          <p:cNvPr id="236" name="Google Shape;236;p10"/>
          <p:cNvSpPr txBox="1">
            <a:spLocks noGrp="1"/>
          </p:cNvSpPr>
          <p:nvPr>
            <p:ph type="sldNum" idx="12"/>
          </p:nvPr>
        </p:nvSpPr>
        <p:spPr>
          <a:xfrm>
            <a:off x="6477000" y="6523039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9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37" name="Google Shape;237;p10"/>
          <p:cNvSpPr txBox="1">
            <a:spLocks noGrp="1"/>
          </p:cNvSpPr>
          <p:nvPr>
            <p:ph type="ftr" idx="11"/>
          </p:nvPr>
        </p:nvSpPr>
        <p:spPr>
          <a:xfrm>
            <a:off x="3239068" y="6523037"/>
            <a:ext cx="3352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</a:p>
        </p:txBody>
      </p:sp>
      <p:sp>
        <p:nvSpPr>
          <p:cNvPr id="238" name="Google Shape;238;p10"/>
          <p:cNvSpPr txBox="1"/>
          <p:nvPr/>
        </p:nvSpPr>
        <p:spPr>
          <a:xfrm>
            <a:off x="679275" y="1458825"/>
            <a:ext cx="7855200" cy="3183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AutoNum type="arabicPeriod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Design a hybrid feature backbone that jointly learns equivariant features (for geometric consistency) and invariant features (for semantic stability).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AutoNum type="arabicPeriod"/>
            </a:pPr>
            <a:endParaRPr lang="en-US"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2900">
              <a:buClr>
                <a:schemeClr val="dk1"/>
              </a:buClr>
              <a:buSzPts val="1800"/>
              <a:buFont typeface="Times New Roman" panose="02020603050405020304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and analyze the learned equivariant and invariant feature representations to interpret model behavior under geometric transformations.</a:t>
            </a:r>
            <a:b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None/>
            </a:pPr>
            <a:b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3" name="Google Shape;243;g377646d8eb5_0_105"/>
          <p:cNvCxnSpPr/>
          <p:nvPr/>
        </p:nvCxnSpPr>
        <p:spPr>
          <a:xfrm>
            <a:off x="533400" y="655638"/>
            <a:ext cx="8077200" cy="0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4" name="Google Shape;244;g377646d8eb5_0_10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46" name="Google Shape;246;g377646d8eb5_0_105" descr="kle tech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1" cy="50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g377646d8eb5_0_105"/>
          <p:cNvGrpSpPr/>
          <p:nvPr/>
        </p:nvGrpSpPr>
        <p:grpSpPr>
          <a:xfrm>
            <a:off x="533400" y="0"/>
            <a:ext cx="3297265" cy="610232"/>
            <a:chOff x="533400" y="17929"/>
            <a:chExt cx="3297265" cy="660782"/>
          </a:xfrm>
        </p:grpSpPr>
        <p:pic>
          <p:nvPicPr>
            <p:cNvPr id="248" name="Google Shape;248;g377646d8eb5_0_105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g377646d8eb5_0_105"/>
            <p:cNvSpPr/>
            <p:nvPr/>
          </p:nvSpPr>
          <p:spPr>
            <a:xfrm>
              <a:off x="1034365" y="17929"/>
              <a:ext cx="2796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" name="Google Shape;250;g377646d8eb5_0_105"/>
            <p:cNvSpPr/>
            <p:nvPr/>
          </p:nvSpPr>
          <p:spPr>
            <a:xfrm>
              <a:off x="1359454" y="253440"/>
              <a:ext cx="2471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51" name="Google Shape;251;g377646d8eb5_0_105"/>
          <p:cNvSpPr txBox="1">
            <a:spLocks noGrp="1"/>
          </p:cNvSpPr>
          <p:nvPr>
            <p:ph type="dt" idx="10"/>
          </p:nvPr>
        </p:nvSpPr>
        <p:spPr>
          <a:xfrm>
            <a:off x="533400" y="6523039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00" b="1" dirty="0">
                <a:solidFill>
                  <a:schemeClr val="dk1"/>
                </a:solidFill>
                <a:highlight>
                  <a:srgbClr val="D8D8D8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02/01/2026</a:t>
            </a:r>
            <a:endParaRPr sz="1000" dirty="0">
              <a:solidFill>
                <a:schemeClr val="dk1"/>
              </a:solidFill>
              <a:highlight>
                <a:srgbClr val="D8D8D8"/>
              </a:highlight>
            </a:endParaRPr>
          </a:p>
        </p:txBody>
      </p:sp>
      <p:sp>
        <p:nvSpPr>
          <p:cNvPr id="252" name="Google Shape;252;g377646d8eb5_0_105"/>
          <p:cNvSpPr txBox="1">
            <a:spLocks noGrp="1"/>
          </p:cNvSpPr>
          <p:nvPr>
            <p:ph type="sldNum" idx="12"/>
          </p:nvPr>
        </p:nvSpPr>
        <p:spPr>
          <a:xfrm>
            <a:off x="6477000" y="6523039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10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53" name="Google Shape;253;g377646d8eb5_0_105"/>
          <p:cNvSpPr txBox="1">
            <a:spLocks noGrp="1"/>
          </p:cNvSpPr>
          <p:nvPr>
            <p:ph type="ftr" idx="11"/>
          </p:nvPr>
        </p:nvSpPr>
        <p:spPr>
          <a:xfrm>
            <a:off x="3239068" y="6523037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33400" y="732069"/>
            <a:ext cx="363038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background:-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33400" y="1263829"/>
            <a:ext cx="80772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Equivariance:</a:t>
            </a:r>
            <a:b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representation is equivariant if a transformation applied to the input results in a predictable transformation in the output.</a:t>
            </a:r>
            <a:b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Mathematically,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f(T(x)) = T'(f(x))</a:t>
            </a:r>
            <a:b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Rotating an image by 90° causes the feature map to rotate by 90°.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Invariance:</a:t>
            </a:r>
            <a:b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representation is invariant if it remains unchanged under transformations of the input.</a:t>
            </a:r>
            <a:b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Mathematically,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f(T(x)) = f(x)</a:t>
            </a:r>
            <a:b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The class label or object identity remains the same after rotation or flipping.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3" name="Google Shape;243;g377646d8eb5_0_105"/>
          <p:cNvCxnSpPr/>
          <p:nvPr/>
        </p:nvCxnSpPr>
        <p:spPr>
          <a:xfrm>
            <a:off x="533400" y="655638"/>
            <a:ext cx="8077200" cy="0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4" name="Google Shape;244;g377646d8eb5_0_10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46" name="Google Shape;246;g377646d8eb5_0_105" descr="kle tech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1" cy="50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g377646d8eb5_0_105"/>
          <p:cNvGrpSpPr/>
          <p:nvPr/>
        </p:nvGrpSpPr>
        <p:grpSpPr>
          <a:xfrm>
            <a:off x="533400" y="0"/>
            <a:ext cx="3297265" cy="610232"/>
            <a:chOff x="533400" y="17929"/>
            <a:chExt cx="3297265" cy="660782"/>
          </a:xfrm>
        </p:grpSpPr>
        <p:pic>
          <p:nvPicPr>
            <p:cNvPr id="248" name="Google Shape;248;g377646d8eb5_0_105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g377646d8eb5_0_105"/>
            <p:cNvSpPr/>
            <p:nvPr/>
          </p:nvSpPr>
          <p:spPr>
            <a:xfrm>
              <a:off x="1034365" y="17929"/>
              <a:ext cx="2796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" name="Google Shape;250;g377646d8eb5_0_105"/>
            <p:cNvSpPr/>
            <p:nvPr/>
          </p:nvSpPr>
          <p:spPr>
            <a:xfrm>
              <a:off x="1359454" y="253440"/>
              <a:ext cx="2471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51" name="Google Shape;251;g377646d8eb5_0_105"/>
          <p:cNvSpPr txBox="1">
            <a:spLocks noGrp="1"/>
          </p:cNvSpPr>
          <p:nvPr>
            <p:ph type="dt" idx="10"/>
          </p:nvPr>
        </p:nvSpPr>
        <p:spPr>
          <a:xfrm>
            <a:off x="533400" y="6523039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 dirty="0">
                <a:solidFill>
                  <a:schemeClr val="dk1"/>
                </a:solidFill>
                <a:highlight>
                  <a:srgbClr val="D8D8D8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02/01/2026</a:t>
            </a:r>
            <a:endParaRPr sz="1200" dirty="0">
              <a:solidFill>
                <a:schemeClr val="dk1"/>
              </a:solidFill>
              <a:highlight>
                <a:srgbClr val="D8D8D8"/>
              </a:highlight>
            </a:endParaRPr>
          </a:p>
        </p:txBody>
      </p:sp>
      <p:sp>
        <p:nvSpPr>
          <p:cNvPr id="252" name="Google Shape;252;g377646d8eb5_0_105"/>
          <p:cNvSpPr txBox="1">
            <a:spLocks noGrp="1"/>
          </p:cNvSpPr>
          <p:nvPr>
            <p:ph type="sldNum" idx="12"/>
          </p:nvPr>
        </p:nvSpPr>
        <p:spPr>
          <a:xfrm>
            <a:off x="6477000" y="6523039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11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53" name="Google Shape;253;g377646d8eb5_0_105"/>
          <p:cNvSpPr txBox="1">
            <a:spLocks noGrp="1"/>
          </p:cNvSpPr>
          <p:nvPr>
            <p:ph type="ftr" idx="11"/>
          </p:nvPr>
        </p:nvSpPr>
        <p:spPr>
          <a:xfrm>
            <a:off x="3239068" y="6523037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4011" y="740764"/>
            <a:ext cx="429357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work:-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380392"/>
            <a:ext cx="7801708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Dual-Branch Hybrid Architecture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ResNet-50 backbone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extracts low-level features.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specialized heads: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Equivariant Head: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	Convolutional layers produce spatially structured feature maps sensitive 	to transformations.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Invariant Head: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Global pooling + MLP projects to stable embeddings, robust to 	transformations.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L_total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l-G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λ_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eqv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L_eqv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l-G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λ_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 *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L_inv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L_eqv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Mean Squared Error between transformed feature maps.</a:t>
            </a:r>
          </a:p>
          <a:p>
            <a:pPr lvl="1"/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L_inv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NT-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(contrastive) loss ensuring invariance in embedding 	space.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3" name="Google Shape;243;g377646d8eb5_0_105"/>
          <p:cNvCxnSpPr/>
          <p:nvPr/>
        </p:nvCxnSpPr>
        <p:spPr>
          <a:xfrm>
            <a:off x="533400" y="655638"/>
            <a:ext cx="8077200" cy="0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4" name="Google Shape;244;g377646d8eb5_0_10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46" name="Google Shape;246;g377646d8eb5_0_105" descr="kle tech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1" cy="50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g377646d8eb5_0_105"/>
          <p:cNvGrpSpPr/>
          <p:nvPr/>
        </p:nvGrpSpPr>
        <p:grpSpPr>
          <a:xfrm>
            <a:off x="533400" y="0"/>
            <a:ext cx="3297265" cy="610232"/>
            <a:chOff x="533400" y="17929"/>
            <a:chExt cx="3297265" cy="660782"/>
          </a:xfrm>
        </p:grpSpPr>
        <p:pic>
          <p:nvPicPr>
            <p:cNvPr id="248" name="Google Shape;248;g377646d8eb5_0_105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g377646d8eb5_0_105"/>
            <p:cNvSpPr/>
            <p:nvPr/>
          </p:nvSpPr>
          <p:spPr>
            <a:xfrm>
              <a:off x="1034365" y="17929"/>
              <a:ext cx="2796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" name="Google Shape;250;g377646d8eb5_0_105"/>
            <p:cNvSpPr/>
            <p:nvPr/>
          </p:nvSpPr>
          <p:spPr>
            <a:xfrm>
              <a:off x="1359454" y="253440"/>
              <a:ext cx="2471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51" name="Google Shape;251;g377646d8eb5_0_105"/>
          <p:cNvSpPr txBox="1">
            <a:spLocks noGrp="1"/>
          </p:cNvSpPr>
          <p:nvPr>
            <p:ph type="dt" idx="10"/>
          </p:nvPr>
        </p:nvSpPr>
        <p:spPr>
          <a:xfrm>
            <a:off x="533400" y="6523039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 dirty="0">
                <a:solidFill>
                  <a:schemeClr val="dk1"/>
                </a:solidFill>
                <a:highlight>
                  <a:srgbClr val="D8D8D8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02/01/2026</a:t>
            </a:r>
            <a:endParaRPr sz="1200" dirty="0">
              <a:solidFill>
                <a:schemeClr val="dk1"/>
              </a:solidFill>
              <a:highlight>
                <a:srgbClr val="D8D8D8"/>
              </a:highlight>
            </a:endParaRPr>
          </a:p>
        </p:txBody>
      </p:sp>
      <p:sp>
        <p:nvSpPr>
          <p:cNvPr id="252" name="Google Shape;252;g377646d8eb5_0_105"/>
          <p:cNvSpPr txBox="1">
            <a:spLocks noGrp="1"/>
          </p:cNvSpPr>
          <p:nvPr>
            <p:ph type="sldNum" idx="12"/>
          </p:nvPr>
        </p:nvSpPr>
        <p:spPr>
          <a:xfrm>
            <a:off x="6477000" y="6523039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12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53" name="Google Shape;253;g377646d8eb5_0_105"/>
          <p:cNvSpPr txBox="1">
            <a:spLocks noGrp="1"/>
          </p:cNvSpPr>
          <p:nvPr>
            <p:ph type="ftr" idx="11"/>
          </p:nvPr>
        </p:nvSpPr>
        <p:spPr>
          <a:xfrm>
            <a:off x="3239068" y="6523037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844596"/>
            <a:ext cx="8077200" cy="52214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9228" y="685800"/>
            <a:ext cx="275952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diagram:-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3" name="Google Shape;243;g377646d8eb5_0_105"/>
          <p:cNvCxnSpPr/>
          <p:nvPr/>
        </p:nvCxnSpPr>
        <p:spPr>
          <a:xfrm>
            <a:off x="533400" y="655638"/>
            <a:ext cx="8077200" cy="0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4" name="Google Shape;244;g377646d8eb5_0_10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46" name="Google Shape;246;g377646d8eb5_0_105" descr="kle tech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1" cy="50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g377646d8eb5_0_105"/>
          <p:cNvGrpSpPr/>
          <p:nvPr/>
        </p:nvGrpSpPr>
        <p:grpSpPr>
          <a:xfrm>
            <a:off x="533400" y="0"/>
            <a:ext cx="3297265" cy="610232"/>
            <a:chOff x="533400" y="17929"/>
            <a:chExt cx="3297265" cy="660782"/>
          </a:xfrm>
        </p:grpSpPr>
        <p:pic>
          <p:nvPicPr>
            <p:cNvPr id="248" name="Google Shape;248;g377646d8eb5_0_105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g377646d8eb5_0_105"/>
            <p:cNvSpPr/>
            <p:nvPr/>
          </p:nvSpPr>
          <p:spPr>
            <a:xfrm>
              <a:off x="1034365" y="17929"/>
              <a:ext cx="2796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" name="Google Shape;250;g377646d8eb5_0_105"/>
            <p:cNvSpPr/>
            <p:nvPr/>
          </p:nvSpPr>
          <p:spPr>
            <a:xfrm>
              <a:off x="1359454" y="253440"/>
              <a:ext cx="2471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51" name="Google Shape;251;g377646d8eb5_0_105"/>
          <p:cNvSpPr txBox="1">
            <a:spLocks noGrp="1"/>
          </p:cNvSpPr>
          <p:nvPr>
            <p:ph type="dt" idx="10"/>
          </p:nvPr>
        </p:nvSpPr>
        <p:spPr>
          <a:xfrm>
            <a:off x="533400" y="6523039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 b="1" dirty="0">
                <a:solidFill>
                  <a:schemeClr val="dk1"/>
                </a:solidFill>
                <a:highlight>
                  <a:srgbClr val="D8D8D8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02/01/2026</a:t>
            </a:r>
            <a:endParaRPr sz="1100" dirty="0">
              <a:solidFill>
                <a:schemeClr val="dk1"/>
              </a:solidFill>
              <a:highlight>
                <a:srgbClr val="D8D8D8"/>
              </a:highlight>
            </a:endParaRPr>
          </a:p>
        </p:txBody>
      </p:sp>
      <p:sp>
        <p:nvSpPr>
          <p:cNvPr id="252" name="Google Shape;252;g377646d8eb5_0_105"/>
          <p:cNvSpPr txBox="1">
            <a:spLocks noGrp="1"/>
          </p:cNvSpPr>
          <p:nvPr>
            <p:ph type="sldNum" idx="12"/>
          </p:nvPr>
        </p:nvSpPr>
        <p:spPr>
          <a:xfrm>
            <a:off x="6477000" y="6523039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13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53" name="Google Shape;253;g377646d8eb5_0_105"/>
          <p:cNvSpPr txBox="1">
            <a:spLocks noGrp="1"/>
          </p:cNvSpPr>
          <p:nvPr>
            <p:ph type="ftr" idx="11"/>
          </p:nvPr>
        </p:nvSpPr>
        <p:spPr>
          <a:xfrm>
            <a:off x="3239068" y="6523037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4011" y="740764"/>
            <a:ext cx="429357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evaluation metrices:-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192" y="1435224"/>
            <a:ext cx="4536831" cy="427305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4011" y="1591408"/>
            <a:ext cx="405268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Evaluation-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Equivariance Consistency Metric (ECM):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how consistently the feature maps transform under input rotation/flip.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ECM → stronger geometric consistency.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Invariance Difference Metric (IDM):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how stable the invariant embeddings remain under transformations.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IDM → stronger semantic stability.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3" name="Google Shape;243;g377646d8eb5_0_105"/>
          <p:cNvCxnSpPr/>
          <p:nvPr/>
        </p:nvCxnSpPr>
        <p:spPr>
          <a:xfrm>
            <a:off x="533400" y="655638"/>
            <a:ext cx="8077200" cy="0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4" name="Google Shape;244;g377646d8eb5_0_10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46" name="Google Shape;246;g377646d8eb5_0_105" descr="kle tech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1" cy="50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g377646d8eb5_0_105"/>
          <p:cNvGrpSpPr/>
          <p:nvPr/>
        </p:nvGrpSpPr>
        <p:grpSpPr>
          <a:xfrm>
            <a:off x="533400" y="0"/>
            <a:ext cx="3297265" cy="610232"/>
            <a:chOff x="533400" y="17929"/>
            <a:chExt cx="3297265" cy="660782"/>
          </a:xfrm>
        </p:grpSpPr>
        <p:pic>
          <p:nvPicPr>
            <p:cNvPr id="248" name="Google Shape;248;g377646d8eb5_0_105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g377646d8eb5_0_105"/>
            <p:cNvSpPr/>
            <p:nvPr/>
          </p:nvSpPr>
          <p:spPr>
            <a:xfrm>
              <a:off x="1034365" y="17929"/>
              <a:ext cx="2796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" name="Google Shape;250;g377646d8eb5_0_105"/>
            <p:cNvSpPr/>
            <p:nvPr/>
          </p:nvSpPr>
          <p:spPr>
            <a:xfrm>
              <a:off x="1359454" y="253440"/>
              <a:ext cx="2471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51" name="Google Shape;251;g377646d8eb5_0_105"/>
          <p:cNvSpPr txBox="1">
            <a:spLocks noGrp="1"/>
          </p:cNvSpPr>
          <p:nvPr>
            <p:ph type="dt" idx="10"/>
          </p:nvPr>
        </p:nvSpPr>
        <p:spPr>
          <a:xfrm>
            <a:off x="533400" y="6523039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 b="1" dirty="0">
                <a:solidFill>
                  <a:schemeClr val="dk1"/>
                </a:solidFill>
                <a:highlight>
                  <a:srgbClr val="D8D8D8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02/01/2026</a:t>
            </a:r>
            <a:endParaRPr sz="1100" dirty="0">
              <a:solidFill>
                <a:schemeClr val="dk1"/>
              </a:solidFill>
              <a:highlight>
                <a:srgbClr val="D8D8D8"/>
              </a:highlight>
            </a:endParaRPr>
          </a:p>
        </p:txBody>
      </p:sp>
      <p:sp>
        <p:nvSpPr>
          <p:cNvPr id="252" name="Google Shape;252;g377646d8eb5_0_105"/>
          <p:cNvSpPr txBox="1">
            <a:spLocks noGrp="1"/>
          </p:cNvSpPr>
          <p:nvPr>
            <p:ph type="sldNum" idx="12"/>
          </p:nvPr>
        </p:nvSpPr>
        <p:spPr>
          <a:xfrm>
            <a:off x="6477000" y="6523039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14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53" name="Google Shape;253;g377646d8eb5_0_105"/>
          <p:cNvSpPr txBox="1">
            <a:spLocks noGrp="1"/>
          </p:cNvSpPr>
          <p:nvPr>
            <p:ph type="ftr" idx="11"/>
          </p:nvPr>
        </p:nvSpPr>
        <p:spPr>
          <a:xfrm>
            <a:off x="3239068" y="6523037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4011" y="740764"/>
            <a:ext cx="429357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evaluation metrices:-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8215" y="1492218"/>
            <a:ext cx="6919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analysis of the above mentioned metrices was done 760 unseen data.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409700" y="2975128"/>
          <a:ext cx="6096000" cy="1405383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846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Transformation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ECM (mean)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IDM (mean)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Correlation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46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Flip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0.006862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0.006516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1.0000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46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Rotate (90°)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0.021081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0.065820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1.0000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3" name="Google Shape;243;g377646d8eb5_0_105"/>
          <p:cNvCxnSpPr/>
          <p:nvPr/>
        </p:nvCxnSpPr>
        <p:spPr>
          <a:xfrm>
            <a:off x="533400" y="655638"/>
            <a:ext cx="8077200" cy="0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4" name="Google Shape;244;g377646d8eb5_0_10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46" name="Google Shape;246;g377646d8eb5_0_105" descr="kle tech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1" cy="50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g377646d8eb5_0_105"/>
          <p:cNvGrpSpPr/>
          <p:nvPr/>
        </p:nvGrpSpPr>
        <p:grpSpPr>
          <a:xfrm>
            <a:off x="533400" y="0"/>
            <a:ext cx="3297265" cy="610232"/>
            <a:chOff x="533400" y="17929"/>
            <a:chExt cx="3297265" cy="660782"/>
          </a:xfrm>
        </p:grpSpPr>
        <p:pic>
          <p:nvPicPr>
            <p:cNvPr id="248" name="Google Shape;248;g377646d8eb5_0_105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g377646d8eb5_0_105"/>
            <p:cNvSpPr/>
            <p:nvPr/>
          </p:nvSpPr>
          <p:spPr>
            <a:xfrm>
              <a:off x="1034365" y="17929"/>
              <a:ext cx="2796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" name="Google Shape;250;g377646d8eb5_0_105"/>
            <p:cNvSpPr/>
            <p:nvPr/>
          </p:nvSpPr>
          <p:spPr>
            <a:xfrm>
              <a:off x="1359454" y="253440"/>
              <a:ext cx="2471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51" name="Google Shape;251;g377646d8eb5_0_105"/>
          <p:cNvSpPr txBox="1">
            <a:spLocks noGrp="1"/>
          </p:cNvSpPr>
          <p:nvPr>
            <p:ph type="dt" idx="10"/>
          </p:nvPr>
        </p:nvSpPr>
        <p:spPr>
          <a:xfrm>
            <a:off x="533400" y="6523039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 b="1" dirty="0">
                <a:solidFill>
                  <a:schemeClr val="dk1"/>
                </a:solidFill>
                <a:highlight>
                  <a:srgbClr val="D8D8D8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02/01/2026</a:t>
            </a:r>
            <a:endParaRPr sz="1100" dirty="0">
              <a:solidFill>
                <a:schemeClr val="dk1"/>
              </a:solidFill>
              <a:highlight>
                <a:srgbClr val="D8D8D8"/>
              </a:highlight>
            </a:endParaRPr>
          </a:p>
        </p:txBody>
      </p:sp>
      <p:sp>
        <p:nvSpPr>
          <p:cNvPr id="252" name="Google Shape;252;g377646d8eb5_0_105"/>
          <p:cNvSpPr txBox="1">
            <a:spLocks noGrp="1"/>
          </p:cNvSpPr>
          <p:nvPr>
            <p:ph type="sldNum" idx="12"/>
          </p:nvPr>
        </p:nvSpPr>
        <p:spPr>
          <a:xfrm>
            <a:off x="6477000" y="6523039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15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53" name="Google Shape;253;g377646d8eb5_0_105"/>
          <p:cNvSpPr txBox="1">
            <a:spLocks noGrp="1"/>
          </p:cNvSpPr>
          <p:nvPr>
            <p:ph type="ftr" idx="11"/>
          </p:nvPr>
        </p:nvSpPr>
        <p:spPr>
          <a:xfrm>
            <a:off x="3239068" y="6523037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4011" y="740764"/>
            <a:ext cx="4293577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Architecture:-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F34488-E897-0E0A-C51C-B4AB459BE2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047" y="1480048"/>
            <a:ext cx="7563906" cy="424874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3" name="Google Shape;243;g377646d8eb5_0_105"/>
          <p:cNvCxnSpPr/>
          <p:nvPr/>
        </p:nvCxnSpPr>
        <p:spPr>
          <a:xfrm>
            <a:off x="533400" y="655638"/>
            <a:ext cx="8077200" cy="0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4" name="Google Shape;244;g377646d8eb5_0_10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46" name="Google Shape;246;g377646d8eb5_0_105" descr="kle tech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1" cy="50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g377646d8eb5_0_105"/>
          <p:cNvGrpSpPr/>
          <p:nvPr/>
        </p:nvGrpSpPr>
        <p:grpSpPr>
          <a:xfrm>
            <a:off x="533400" y="0"/>
            <a:ext cx="3297265" cy="610232"/>
            <a:chOff x="533400" y="17929"/>
            <a:chExt cx="3297265" cy="660782"/>
          </a:xfrm>
        </p:grpSpPr>
        <p:pic>
          <p:nvPicPr>
            <p:cNvPr id="248" name="Google Shape;248;g377646d8eb5_0_105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g377646d8eb5_0_105"/>
            <p:cNvSpPr/>
            <p:nvPr/>
          </p:nvSpPr>
          <p:spPr>
            <a:xfrm>
              <a:off x="1034365" y="17929"/>
              <a:ext cx="2796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" name="Google Shape;250;g377646d8eb5_0_105"/>
            <p:cNvSpPr/>
            <p:nvPr/>
          </p:nvSpPr>
          <p:spPr>
            <a:xfrm>
              <a:off x="1359454" y="253440"/>
              <a:ext cx="2471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51" name="Google Shape;251;g377646d8eb5_0_105"/>
          <p:cNvSpPr txBox="1">
            <a:spLocks noGrp="1"/>
          </p:cNvSpPr>
          <p:nvPr>
            <p:ph type="dt" idx="10"/>
          </p:nvPr>
        </p:nvSpPr>
        <p:spPr>
          <a:xfrm>
            <a:off x="533400" y="6523039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 b="1" dirty="0">
                <a:solidFill>
                  <a:schemeClr val="dk1"/>
                </a:solidFill>
                <a:highlight>
                  <a:srgbClr val="D8D8D8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02/01/2026</a:t>
            </a:r>
            <a:endParaRPr sz="1100" dirty="0">
              <a:solidFill>
                <a:schemeClr val="dk1"/>
              </a:solidFill>
              <a:highlight>
                <a:srgbClr val="D8D8D8"/>
              </a:highlight>
            </a:endParaRPr>
          </a:p>
        </p:txBody>
      </p:sp>
      <p:sp>
        <p:nvSpPr>
          <p:cNvPr id="252" name="Google Shape;252;g377646d8eb5_0_105"/>
          <p:cNvSpPr txBox="1">
            <a:spLocks noGrp="1"/>
          </p:cNvSpPr>
          <p:nvPr>
            <p:ph type="sldNum" idx="12"/>
          </p:nvPr>
        </p:nvSpPr>
        <p:spPr>
          <a:xfrm>
            <a:off x="6477000" y="6523039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16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53" name="Google Shape;253;g377646d8eb5_0_105"/>
          <p:cNvSpPr txBox="1">
            <a:spLocks noGrp="1"/>
          </p:cNvSpPr>
          <p:nvPr>
            <p:ph type="ftr" idx="11"/>
          </p:nvPr>
        </p:nvSpPr>
        <p:spPr>
          <a:xfrm>
            <a:off x="3239068" y="6523037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4011" y="740764"/>
            <a:ext cx="429357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results:-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123" y="1361278"/>
            <a:ext cx="5017477" cy="229320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3123" y="3859496"/>
            <a:ext cx="5017477" cy="24735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0893" y="2118967"/>
            <a:ext cx="2708031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CNN(Res-Net50)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ECM (Flip):   1.568478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ECM (Rotate): 4.214605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IDM (Flip):   0.000914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IDM (Rotate): 0.006081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893" y="4357601"/>
            <a:ext cx="25058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 Branch CNN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ECM (Flip):   0.010106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ECM (Rotate): 0.015568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IDM (Flip):   0.000061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IDM (Rotate): 0.011262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3" name="Google Shape;243;g377646d8eb5_0_105"/>
          <p:cNvCxnSpPr/>
          <p:nvPr/>
        </p:nvCxnSpPr>
        <p:spPr>
          <a:xfrm>
            <a:off x="533400" y="655638"/>
            <a:ext cx="8077200" cy="0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4" name="Google Shape;244;g377646d8eb5_0_10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46" name="Google Shape;246;g377646d8eb5_0_105" descr="kle tech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1" cy="50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g377646d8eb5_0_105"/>
          <p:cNvGrpSpPr/>
          <p:nvPr/>
        </p:nvGrpSpPr>
        <p:grpSpPr>
          <a:xfrm>
            <a:off x="533400" y="0"/>
            <a:ext cx="3297265" cy="610232"/>
            <a:chOff x="533400" y="17929"/>
            <a:chExt cx="3297265" cy="660782"/>
          </a:xfrm>
        </p:grpSpPr>
        <p:pic>
          <p:nvPicPr>
            <p:cNvPr id="248" name="Google Shape;248;g377646d8eb5_0_105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g377646d8eb5_0_105"/>
            <p:cNvSpPr/>
            <p:nvPr/>
          </p:nvSpPr>
          <p:spPr>
            <a:xfrm>
              <a:off x="1034365" y="17929"/>
              <a:ext cx="2796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" name="Google Shape;250;g377646d8eb5_0_105"/>
            <p:cNvSpPr/>
            <p:nvPr/>
          </p:nvSpPr>
          <p:spPr>
            <a:xfrm>
              <a:off x="1359454" y="253440"/>
              <a:ext cx="2471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51" name="Google Shape;251;g377646d8eb5_0_105"/>
          <p:cNvSpPr txBox="1">
            <a:spLocks noGrp="1"/>
          </p:cNvSpPr>
          <p:nvPr>
            <p:ph type="dt" idx="10"/>
          </p:nvPr>
        </p:nvSpPr>
        <p:spPr>
          <a:xfrm>
            <a:off x="533400" y="6523039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 b="1" dirty="0">
                <a:solidFill>
                  <a:schemeClr val="dk1"/>
                </a:solidFill>
                <a:highlight>
                  <a:srgbClr val="D8D8D8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02/01/2026</a:t>
            </a:r>
            <a:endParaRPr sz="1100" dirty="0">
              <a:solidFill>
                <a:schemeClr val="dk1"/>
              </a:solidFill>
              <a:highlight>
                <a:srgbClr val="D8D8D8"/>
              </a:highlight>
            </a:endParaRPr>
          </a:p>
        </p:txBody>
      </p:sp>
      <p:sp>
        <p:nvSpPr>
          <p:cNvPr id="252" name="Google Shape;252;g377646d8eb5_0_105"/>
          <p:cNvSpPr txBox="1">
            <a:spLocks noGrp="1"/>
          </p:cNvSpPr>
          <p:nvPr>
            <p:ph type="sldNum" idx="12"/>
          </p:nvPr>
        </p:nvSpPr>
        <p:spPr>
          <a:xfrm>
            <a:off x="6477000" y="6523039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17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53" name="Google Shape;253;g377646d8eb5_0_105"/>
          <p:cNvSpPr txBox="1">
            <a:spLocks noGrp="1"/>
          </p:cNvSpPr>
          <p:nvPr>
            <p:ph type="ftr" idx="11"/>
          </p:nvPr>
        </p:nvSpPr>
        <p:spPr>
          <a:xfrm>
            <a:off x="3239068" y="6523037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8654" y="1219541"/>
            <a:ext cx="4869473" cy="2410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4011" y="740764"/>
            <a:ext cx="429357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results:-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6160" y="1951672"/>
            <a:ext cx="2708031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CNN(Res-Net50)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ECM (Flip):   1.268820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ECM (Rotate): 4.054253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IDM (Flip):   0.001348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IDM (Rotate): 0.005362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160" y="4392821"/>
            <a:ext cx="457639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 Branch CNN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ECM (Flip):   0.010840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ECM (Rotate): 0.025333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IDM (Flip):   0.000010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IDM (Rotate): 0.024821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0554" y="3852221"/>
            <a:ext cx="5005716" cy="241023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3" name="Google Shape;243;g377646d8eb5_0_105"/>
          <p:cNvCxnSpPr/>
          <p:nvPr/>
        </p:nvCxnSpPr>
        <p:spPr>
          <a:xfrm>
            <a:off x="533400" y="655638"/>
            <a:ext cx="8077200" cy="0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4" name="Google Shape;244;g377646d8eb5_0_10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46" name="Google Shape;246;g377646d8eb5_0_105" descr="kle tech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1" cy="50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g377646d8eb5_0_105"/>
          <p:cNvGrpSpPr/>
          <p:nvPr/>
        </p:nvGrpSpPr>
        <p:grpSpPr>
          <a:xfrm>
            <a:off x="533400" y="0"/>
            <a:ext cx="3297265" cy="610232"/>
            <a:chOff x="533400" y="17929"/>
            <a:chExt cx="3297265" cy="660782"/>
          </a:xfrm>
        </p:grpSpPr>
        <p:pic>
          <p:nvPicPr>
            <p:cNvPr id="248" name="Google Shape;248;g377646d8eb5_0_105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g377646d8eb5_0_105"/>
            <p:cNvSpPr/>
            <p:nvPr/>
          </p:nvSpPr>
          <p:spPr>
            <a:xfrm>
              <a:off x="1034365" y="17929"/>
              <a:ext cx="2796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" name="Google Shape;250;g377646d8eb5_0_105"/>
            <p:cNvSpPr/>
            <p:nvPr/>
          </p:nvSpPr>
          <p:spPr>
            <a:xfrm>
              <a:off x="1359454" y="253440"/>
              <a:ext cx="2471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51" name="Google Shape;251;g377646d8eb5_0_105"/>
          <p:cNvSpPr txBox="1">
            <a:spLocks noGrp="1"/>
          </p:cNvSpPr>
          <p:nvPr>
            <p:ph type="dt" idx="10"/>
          </p:nvPr>
        </p:nvSpPr>
        <p:spPr>
          <a:xfrm>
            <a:off x="533400" y="6523039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 b="1" dirty="0">
                <a:solidFill>
                  <a:schemeClr val="dk1"/>
                </a:solidFill>
                <a:highlight>
                  <a:srgbClr val="D8D8D8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02/01/2026</a:t>
            </a:r>
            <a:endParaRPr sz="1100" dirty="0">
              <a:solidFill>
                <a:schemeClr val="dk1"/>
              </a:solidFill>
              <a:highlight>
                <a:srgbClr val="D8D8D8"/>
              </a:highlight>
            </a:endParaRPr>
          </a:p>
        </p:txBody>
      </p:sp>
      <p:sp>
        <p:nvSpPr>
          <p:cNvPr id="252" name="Google Shape;252;g377646d8eb5_0_105"/>
          <p:cNvSpPr txBox="1">
            <a:spLocks noGrp="1"/>
          </p:cNvSpPr>
          <p:nvPr>
            <p:ph type="sldNum" idx="12"/>
          </p:nvPr>
        </p:nvSpPr>
        <p:spPr>
          <a:xfrm>
            <a:off x="6477000" y="6523039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18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53" name="Google Shape;253;g377646d8eb5_0_105"/>
          <p:cNvSpPr txBox="1">
            <a:spLocks noGrp="1"/>
          </p:cNvSpPr>
          <p:nvPr>
            <p:ph type="ftr" idx="11"/>
          </p:nvPr>
        </p:nvSpPr>
        <p:spPr>
          <a:xfrm>
            <a:off x="3239068" y="6523037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3887F8-5D0C-0B3B-C505-0B74E4353730}"/>
              </a:ext>
            </a:extLst>
          </p:cNvPr>
          <p:cNvSpPr txBox="1"/>
          <p:nvPr/>
        </p:nvSpPr>
        <p:spPr>
          <a:xfrm>
            <a:off x="373845" y="792988"/>
            <a:ext cx="345670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Conclusion:-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B12EC96-9CFF-AF47-9E18-85AD4DA5C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268" y="1524873"/>
            <a:ext cx="844434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addressed the challenge of robust visual perception in dynamic real-world 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dual-branch equivariant–invariant learning framework was proposed to jointly preserve geometric consistency and semantic stability.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shared ResNet-50 backbone enabled efficient feature reuse while separating learning objectives.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evaluation using ECM and IDM demonstrated significant improvements over the baseline CNN.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Qualitative visualizations further confirmed structured geometric behavior and stable semantic representations.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results validate that explicitly modeling equivariance and invariance leads to more reliable perception under distribution shifts.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8DB1110D-C565-B994-C02C-CFF37E701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3" name="Google Shape;243;g377646d8eb5_0_105">
            <a:extLst>
              <a:ext uri="{FF2B5EF4-FFF2-40B4-BE49-F238E27FC236}">
                <a16:creationId xmlns:a16="http://schemas.microsoft.com/office/drawing/2014/main" id="{2946A013-C1B8-BED6-E22D-433D41907AD7}"/>
              </a:ext>
            </a:extLst>
          </p:cNvPr>
          <p:cNvCxnSpPr/>
          <p:nvPr/>
        </p:nvCxnSpPr>
        <p:spPr>
          <a:xfrm>
            <a:off x="533400" y="655638"/>
            <a:ext cx="8077200" cy="0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4" name="Google Shape;244;g377646d8eb5_0_105">
            <a:extLst>
              <a:ext uri="{FF2B5EF4-FFF2-40B4-BE49-F238E27FC236}">
                <a16:creationId xmlns:a16="http://schemas.microsoft.com/office/drawing/2014/main" id="{B27B8CFA-AAB9-B602-50BF-E5A03F72E769}"/>
              </a:ext>
            </a:extLst>
          </p:cNvPr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5" name="Google Shape;245;g377646d8eb5_0_105">
            <a:extLst>
              <a:ext uri="{FF2B5EF4-FFF2-40B4-BE49-F238E27FC236}">
                <a16:creationId xmlns:a16="http://schemas.microsoft.com/office/drawing/2014/main" id="{853BF0F1-2563-0C64-EA71-1BDCA7262D68}"/>
              </a:ext>
            </a:extLst>
          </p:cNvPr>
          <p:cNvSpPr/>
          <p:nvPr/>
        </p:nvSpPr>
        <p:spPr>
          <a:xfrm>
            <a:off x="2362200" y="2664065"/>
            <a:ext cx="3810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Thank You</a:t>
            </a:r>
            <a:endParaRPr sz="2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46" name="Google Shape;246;g377646d8eb5_0_105" descr="kle tech logo">
            <a:extLst>
              <a:ext uri="{FF2B5EF4-FFF2-40B4-BE49-F238E27FC236}">
                <a16:creationId xmlns:a16="http://schemas.microsoft.com/office/drawing/2014/main" id="{FB883D0B-E2D3-1FC8-FB56-40F3AD36F360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1" cy="50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g377646d8eb5_0_105">
            <a:extLst>
              <a:ext uri="{FF2B5EF4-FFF2-40B4-BE49-F238E27FC236}">
                <a16:creationId xmlns:a16="http://schemas.microsoft.com/office/drawing/2014/main" id="{CDA0D47F-CF2C-1E71-9848-A3BFB47CD866}"/>
              </a:ext>
            </a:extLst>
          </p:cNvPr>
          <p:cNvGrpSpPr/>
          <p:nvPr/>
        </p:nvGrpSpPr>
        <p:grpSpPr>
          <a:xfrm>
            <a:off x="533400" y="0"/>
            <a:ext cx="3297265" cy="610232"/>
            <a:chOff x="533400" y="17929"/>
            <a:chExt cx="3297265" cy="660782"/>
          </a:xfrm>
        </p:grpSpPr>
        <p:pic>
          <p:nvPicPr>
            <p:cNvPr id="248" name="Google Shape;248;g377646d8eb5_0_105">
              <a:extLst>
                <a:ext uri="{FF2B5EF4-FFF2-40B4-BE49-F238E27FC236}">
                  <a16:creationId xmlns:a16="http://schemas.microsoft.com/office/drawing/2014/main" id="{B9ABAE6F-6956-0C6E-B11E-7DB0C7C308AC}"/>
                </a:ext>
              </a:extLst>
            </p:cNvPr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g377646d8eb5_0_105">
              <a:extLst>
                <a:ext uri="{FF2B5EF4-FFF2-40B4-BE49-F238E27FC236}">
                  <a16:creationId xmlns:a16="http://schemas.microsoft.com/office/drawing/2014/main" id="{2254714D-DF2E-295A-9B39-0FC2870BC161}"/>
                </a:ext>
              </a:extLst>
            </p:cNvPr>
            <p:cNvSpPr/>
            <p:nvPr/>
          </p:nvSpPr>
          <p:spPr>
            <a:xfrm>
              <a:off x="1034365" y="17929"/>
              <a:ext cx="2796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" name="Google Shape;250;g377646d8eb5_0_105">
              <a:extLst>
                <a:ext uri="{FF2B5EF4-FFF2-40B4-BE49-F238E27FC236}">
                  <a16:creationId xmlns:a16="http://schemas.microsoft.com/office/drawing/2014/main" id="{D2C48173-57F8-AE8D-AC3F-4462428358E8}"/>
                </a:ext>
              </a:extLst>
            </p:cNvPr>
            <p:cNvSpPr/>
            <p:nvPr/>
          </p:nvSpPr>
          <p:spPr>
            <a:xfrm>
              <a:off x="1359454" y="253440"/>
              <a:ext cx="2471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51" name="Google Shape;251;g377646d8eb5_0_105">
            <a:extLst>
              <a:ext uri="{FF2B5EF4-FFF2-40B4-BE49-F238E27FC236}">
                <a16:creationId xmlns:a16="http://schemas.microsoft.com/office/drawing/2014/main" id="{056F74E6-09D1-D6CA-12EB-82A2311FFF6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33400" y="6523039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 b="1" dirty="0">
                <a:solidFill>
                  <a:schemeClr val="dk1"/>
                </a:solidFill>
                <a:highlight>
                  <a:srgbClr val="D8D8D8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02/01/2026</a:t>
            </a:r>
            <a:endParaRPr sz="1100" dirty="0">
              <a:solidFill>
                <a:schemeClr val="dk1"/>
              </a:solidFill>
              <a:highlight>
                <a:srgbClr val="D8D8D8"/>
              </a:highlight>
            </a:endParaRPr>
          </a:p>
        </p:txBody>
      </p:sp>
      <p:sp>
        <p:nvSpPr>
          <p:cNvPr id="252" name="Google Shape;252;g377646d8eb5_0_105">
            <a:extLst>
              <a:ext uri="{FF2B5EF4-FFF2-40B4-BE49-F238E27FC236}">
                <a16:creationId xmlns:a16="http://schemas.microsoft.com/office/drawing/2014/main" id="{0CA79A05-13C3-0ABC-0573-7DBA26E522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77000" y="6523039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19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53" name="Google Shape;253;g377646d8eb5_0_105">
            <a:extLst>
              <a:ext uri="{FF2B5EF4-FFF2-40B4-BE49-F238E27FC236}">
                <a16:creationId xmlns:a16="http://schemas.microsoft.com/office/drawing/2014/main" id="{E7DBC230-16DB-AC0E-54A2-1A4193E46A4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239068" y="6523037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</a:p>
        </p:txBody>
      </p:sp>
    </p:spTree>
    <p:extLst>
      <p:ext uri="{BB962C8B-B14F-4D97-AF65-F5344CB8AC3E}">
        <p14:creationId xmlns:p14="http://schemas.microsoft.com/office/powerpoint/2010/main" val="1868625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1808</Words>
  <Application>Microsoft Office PowerPoint</Application>
  <PresentationFormat>On-screen Show (4:3)</PresentationFormat>
  <Paragraphs>272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Roboto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vineet desai</cp:lastModifiedBy>
  <cp:revision>7</cp:revision>
  <dcterms:created xsi:type="dcterms:W3CDTF">2006-08-16T00:00:00Z</dcterms:created>
  <dcterms:modified xsi:type="dcterms:W3CDTF">2026-01-09T19:26:19Z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2007F902C4034E9B85CCCCEBDF6275CA_12</vt:lpwstr>
  </property>
  <property fmtid="{D5CDD505-2E9C-101B-9397-08002B2CF9AE}" pid="3" name="KSOProductBuildVer">
    <vt:lpwstr>1033-12.2.0.23196</vt:lpwstr>
  </property>
</Properties>
</file>